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4"/>
  </p:sldMasterIdLst>
  <p:notesMasterIdLst>
    <p:notesMasterId r:id="rId11"/>
  </p:notesMasterIdLst>
  <p:sldIdLst>
    <p:sldId id="290" r:id="rId5"/>
    <p:sldId id="320" r:id="rId6"/>
    <p:sldId id="321" r:id="rId7"/>
    <p:sldId id="325" r:id="rId8"/>
    <p:sldId id="327" r:id="rId9"/>
    <p:sldId id="326" r:id="rId10"/>
  </p:sldIdLst>
  <p:sldSz cx="9144000" cy="5143500" type="screen16x9"/>
  <p:notesSz cx="6858000" cy="9144000"/>
  <p:embeddedFontLst>
    <p:embeddedFont>
      <p:font typeface="Nunito" pitchFamily="2" charset="77"/>
      <p:regular r:id="rId12"/>
      <p:bold r:id="rId13"/>
      <p:italic r:id="rId14"/>
      <p:boldItalic r:id="rId15"/>
    </p:embeddedFont>
    <p:embeddedFont>
      <p:font typeface="Oswald" pitchFamily="2" charset="77"/>
      <p:regular r:id="rId16"/>
      <p:bold r:id="rId17"/>
    </p:embeddedFont>
    <p:embeddedFont>
      <p:font typeface="Roboto" panose="02000000000000000000" pitchFamily="2" charset="0"/>
      <p:regular r:id="rId18"/>
      <p:bold r:id="rId19"/>
      <p:italic r:id="rId20"/>
      <p:boldItalic r:id="rId21"/>
    </p:embeddedFont>
    <p:embeddedFont>
      <p:font typeface="Roboto Medium" panose="02000000000000000000"/>
      <p:regular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40">
          <p15:clr>
            <a:srgbClr val="00FF00"/>
          </p15:clr>
        </p15:guide>
        <p15:guide id="2" pos="449">
          <p15:clr>
            <a:srgbClr val="00FF00"/>
          </p15:clr>
        </p15:guide>
        <p15:guide id="3" orient="horz" pos="2900">
          <p15:clr>
            <a:srgbClr val="9AA0A6"/>
          </p15:clr>
        </p15:guide>
        <p15:guide id="4" pos="5311">
          <p15:clr>
            <a:srgbClr val="9AA0A6"/>
          </p15:clr>
        </p15:guide>
        <p15:guide id="5" orient="horz" pos="602">
          <p15:clr>
            <a:srgbClr val="00FFFF"/>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074CC6D-4EC6-4307-9926-8A24183D681E}">
  <a:tblStyle styleId="{2074CC6D-4EC6-4307-9926-8A24183D681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2"/>
    <p:restoredTop sz="94801"/>
  </p:normalViewPr>
  <p:slideViewPr>
    <p:cSldViewPr snapToGrid="0">
      <p:cViewPr>
        <p:scale>
          <a:sx n="135" d="100"/>
          <a:sy n="135" d="100"/>
        </p:scale>
        <p:origin x="856" y="480"/>
      </p:cViewPr>
      <p:guideLst>
        <p:guide orient="horz" pos="340"/>
        <p:guide pos="449"/>
        <p:guide orient="horz" pos="2900"/>
        <p:guide pos="5311"/>
        <p:guide orient="horz" pos="60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font" Target="fonts/font10.fntdata"/><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font" Target="fonts/font4.fntdata"/><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3.fntdata"/><Relationship Id="rId22"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t>Shared Document with questions: </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t>  https://docs.google.com/document/d/1hzmHP0FQbqre-sEhfdFKW25kCHrw2cxthhCXGVC6FgY/edit#heading=h.vyvxd94gsqza</a:t>
            </a:r>
          </a:p>
          <a:p>
            <a:pPr marL="158750" indent="0">
              <a:buNone/>
            </a:pPr>
            <a:endParaRPr lang="en-US"/>
          </a:p>
        </p:txBody>
      </p:sp>
    </p:spTree>
    <p:extLst>
      <p:ext uri="{BB962C8B-B14F-4D97-AF65-F5344CB8AC3E}">
        <p14:creationId xmlns:p14="http://schemas.microsoft.com/office/powerpoint/2010/main" val="15404601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a:extLst>
            <a:ext uri="{FF2B5EF4-FFF2-40B4-BE49-F238E27FC236}">
              <a16:creationId xmlns:a16="http://schemas.microsoft.com/office/drawing/2014/main" id="{8A8F3422-0448-C811-BFE8-67604973846D}"/>
            </a:ext>
          </a:extLst>
        </p:cNvPr>
        <p:cNvGrpSpPr/>
        <p:nvPr/>
      </p:nvGrpSpPr>
      <p:grpSpPr>
        <a:xfrm>
          <a:off x="0" y="0"/>
          <a:ext cx="0" cy="0"/>
          <a:chOff x="0" y="0"/>
          <a:chExt cx="0" cy="0"/>
        </a:xfrm>
      </p:grpSpPr>
      <p:sp>
        <p:nvSpPr>
          <p:cNvPr id="336" name="Google Shape;336;g8f5384933e_0_343:notes">
            <a:extLst>
              <a:ext uri="{FF2B5EF4-FFF2-40B4-BE49-F238E27FC236}">
                <a16:creationId xmlns:a16="http://schemas.microsoft.com/office/drawing/2014/main" id="{5FCAA394-B2D9-A32F-DFDF-35FB2EA2DD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8f5384933e_0_343:notes">
            <a:extLst>
              <a:ext uri="{FF2B5EF4-FFF2-40B4-BE49-F238E27FC236}">
                <a16:creationId xmlns:a16="http://schemas.microsoft.com/office/drawing/2014/main" id="{94DCAA6F-BA39-3826-E97F-C56FBED7A3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9966799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a:extLst>
            <a:ext uri="{FF2B5EF4-FFF2-40B4-BE49-F238E27FC236}">
              <a16:creationId xmlns:a16="http://schemas.microsoft.com/office/drawing/2014/main" id="{F23C99AC-AD62-A922-0A78-84B5ADE52CD8}"/>
            </a:ext>
          </a:extLst>
        </p:cNvPr>
        <p:cNvGrpSpPr/>
        <p:nvPr/>
      </p:nvGrpSpPr>
      <p:grpSpPr>
        <a:xfrm>
          <a:off x="0" y="0"/>
          <a:ext cx="0" cy="0"/>
          <a:chOff x="0" y="0"/>
          <a:chExt cx="0" cy="0"/>
        </a:xfrm>
      </p:grpSpPr>
      <p:sp>
        <p:nvSpPr>
          <p:cNvPr id="336" name="Google Shape;336;g8f5384933e_0_343:notes">
            <a:extLst>
              <a:ext uri="{FF2B5EF4-FFF2-40B4-BE49-F238E27FC236}">
                <a16:creationId xmlns:a16="http://schemas.microsoft.com/office/drawing/2014/main" id="{D6A167F6-02FD-2F1E-7C27-D74291F15F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8f5384933e_0_343:notes">
            <a:extLst>
              <a:ext uri="{FF2B5EF4-FFF2-40B4-BE49-F238E27FC236}">
                <a16:creationId xmlns:a16="http://schemas.microsoft.com/office/drawing/2014/main" id="{CE7D32E3-66A0-6CD2-E3C8-27862177ED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364732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a:extLst>
            <a:ext uri="{FF2B5EF4-FFF2-40B4-BE49-F238E27FC236}">
              <a16:creationId xmlns:a16="http://schemas.microsoft.com/office/drawing/2014/main" id="{F8B53D74-BA27-C5C1-3BC0-EB6F4D0FB916}"/>
            </a:ext>
          </a:extLst>
        </p:cNvPr>
        <p:cNvGrpSpPr/>
        <p:nvPr/>
      </p:nvGrpSpPr>
      <p:grpSpPr>
        <a:xfrm>
          <a:off x="0" y="0"/>
          <a:ext cx="0" cy="0"/>
          <a:chOff x="0" y="0"/>
          <a:chExt cx="0" cy="0"/>
        </a:xfrm>
      </p:grpSpPr>
      <p:sp>
        <p:nvSpPr>
          <p:cNvPr id="336" name="Google Shape;336;g8f5384933e_0_343:notes">
            <a:extLst>
              <a:ext uri="{FF2B5EF4-FFF2-40B4-BE49-F238E27FC236}">
                <a16:creationId xmlns:a16="http://schemas.microsoft.com/office/drawing/2014/main" id="{4D17348F-E8B5-6924-180B-4D08283F2C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8f5384933e_0_343:notes">
            <a:extLst>
              <a:ext uri="{FF2B5EF4-FFF2-40B4-BE49-F238E27FC236}">
                <a16:creationId xmlns:a16="http://schemas.microsoft.com/office/drawing/2014/main" id="{839E85F9-623E-FC49-21B2-475D8905A5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010553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a:extLst>
            <a:ext uri="{FF2B5EF4-FFF2-40B4-BE49-F238E27FC236}">
              <a16:creationId xmlns:a16="http://schemas.microsoft.com/office/drawing/2014/main" id="{216A283A-3FAD-F2B5-15A1-24FEF1FAFE6A}"/>
            </a:ext>
          </a:extLst>
        </p:cNvPr>
        <p:cNvGrpSpPr/>
        <p:nvPr/>
      </p:nvGrpSpPr>
      <p:grpSpPr>
        <a:xfrm>
          <a:off x="0" y="0"/>
          <a:ext cx="0" cy="0"/>
          <a:chOff x="0" y="0"/>
          <a:chExt cx="0" cy="0"/>
        </a:xfrm>
      </p:grpSpPr>
      <p:sp>
        <p:nvSpPr>
          <p:cNvPr id="336" name="Google Shape;336;g8f5384933e_0_343:notes">
            <a:extLst>
              <a:ext uri="{FF2B5EF4-FFF2-40B4-BE49-F238E27FC236}">
                <a16:creationId xmlns:a16="http://schemas.microsoft.com/office/drawing/2014/main" id="{217FF554-23E7-D572-6E7D-CEF17A4028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8f5384933e_0_343:notes">
            <a:extLst>
              <a:ext uri="{FF2B5EF4-FFF2-40B4-BE49-F238E27FC236}">
                <a16:creationId xmlns:a16="http://schemas.microsoft.com/office/drawing/2014/main" id="{72345492-D0B3-D693-E187-7CA80E16A3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00212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a:extLst>
            <a:ext uri="{FF2B5EF4-FFF2-40B4-BE49-F238E27FC236}">
              <a16:creationId xmlns:a16="http://schemas.microsoft.com/office/drawing/2014/main" id="{6B7D5ACC-BA89-4D07-4954-020FC052517D}"/>
            </a:ext>
          </a:extLst>
        </p:cNvPr>
        <p:cNvGrpSpPr/>
        <p:nvPr/>
      </p:nvGrpSpPr>
      <p:grpSpPr>
        <a:xfrm>
          <a:off x="0" y="0"/>
          <a:ext cx="0" cy="0"/>
          <a:chOff x="0" y="0"/>
          <a:chExt cx="0" cy="0"/>
        </a:xfrm>
      </p:grpSpPr>
      <p:sp>
        <p:nvSpPr>
          <p:cNvPr id="336" name="Google Shape;336;g8f5384933e_0_343:notes">
            <a:extLst>
              <a:ext uri="{FF2B5EF4-FFF2-40B4-BE49-F238E27FC236}">
                <a16:creationId xmlns:a16="http://schemas.microsoft.com/office/drawing/2014/main" id="{EEF33B7D-293E-CAAE-57D9-E8F1927084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8f5384933e_0_343:notes">
            <a:extLst>
              <a:ext uri="{FF2B5EF4-FFF2-40B4-BE49-F238E27FC236}">
                <a16:creationId xmlns:a16="http://schemas.microsoft.com/office/drawing/2014/main" id="{D3F4DE85-6842-8B3E-2740-12D88C2A42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tabLst>
                <a:tab pos="457200" algn="l"/>
              </a:tabLst>
            </a:pPr>
            <a:r>
              <a:rPr lang="en-US"/>
              <a:t>  https://docs.google.com/document/d/1hzmHP0FQbqre-sEhfdFKW25kCHrw2cxthhCXGVC6FgY/edit#heading=h.vyvxd94gsqza</a:t>
            </a:r>
          </a:p>
          <a:p>
            <a:pPr marL="0" indent="0">
              <a:buSzPts val="1000"/>
              <a:buFont typeface="Symbol" panose="05050102010706020507" pitchFamily="18" charset="2"/>
              <a:buNone/>
              <a:tabLst>
                <a:tab pos="457200" algn="l"/>
              </a:tabLst>
            </a:pPr>
            <a:endParaRPr lang="en-US" sz="1800"/>
          </a:p>
          <a:p>
            <a:pPr marL="0" marR="0" lvl="0" indent="0">
              <a:spcAft>
                <a:spcPts val="0"/>
              </a:spcAft>
              <a:buSzPts val="1000"/>
              <a:buFont typeface="Symbol" panose="05050102010706020507" pitchFamily="18" charset="2"/>
              <a:buNone/>
              <a:tabLst>
                <a:tab pos="457200" algn="l"/>
              </a:tabLst>
            </a:pPr>
            <a:r>
              <a:rPr lang="en-US" sz="1800" b="0" i="0" u="none" strike="noStrike">
                <a:solidFill>
                  <a:srgbClr val="000000"/>
                </a:solidFill>
                <a:effectLst/>
              </a:rPr>
              <a:t>This is our first one. So we are doing our best. Have some grace. We will figure this out together.</a:t>
            </a:r>
            <a:endParaRPr lang="en-US"/>
          </a:p>
          <a:p>
            <a:pPr marL="0" marR="0" lvl="0" indent="0">
              <a:spcAft>
                <a:spcPts val="0"/>
              </a:spcAft>
              <a:buSzPts val="1000"/>
              <a:buFont typeface="Symbol" panose="05050102010706020507" pitchFamily="18" charset="2"/>
              <a:buNone/>
              <a:tabLst>
                <a:tab pos="457200" algn="l"/>
              </a:tabLst>
            </a:pPr>
            <a:endParaRPr lang="en-US" sz="1800" b="0" i="0" u="none" strike="noStrike">
              <a:solidFill>
                <a:srgbClr val="000000"/>
              </a:solidFill>
              <a:effectLst/>
              <a:latin typeface="Arial" panose="020B0604020202020204" pitchFamily="34" charset="0"/>
            </a:endParaRPr>
          </a:p>
          <a:p>
            <a:pPr marL="0" marR="0" lvl="0" indent="0">
              <a:spcAft>
                <a:spcPts val="0"/>
              </a:spcAft>
              <a:buSzPts val="1000"/>
              <a:buFont typeface="Symbol" panose="05050102010706020507" pitchFamily="18" charset="2"/>
              <a:buNone/>
              <a:tabLst>
                <a:tab pos="457200" algn="l"/>
              </a:tabLst>
            </a:pPr>
            <a:r>
              <a:rPr lang="en-US" sz="1800" b="0" i="0" u="none" strike="noStrike">
                <a:solidFill>
                  <a:srgbClr val="000000"/>
                </a:solidFill>
                <a:effectLst/>
                <a:latin typeface="Arial" panose="020B0604020202020204" pitchFamily="34" charset="0"/>
              </a:rPr>
              <a:t>For OIT members only due to time constraints. Attendees place their names and department in chat. (2 minutes)</a:t>
            </a:r>
          </a:p>
          <a:p>
            <a:pPr marL="0" marR="0" lvl="0" indent="0">
              <a:spcAft>
                <a:spcPts val="0"/>
              </a:spcAft>
              <a:buSzPts val="1000"/>
              <a:buFont typeface="Symbol" panose="05050102010706020507" pitchFamily="18" charset="2"/>
              <a:buNone/>
              <a:tabLst>
                <a:tab pos="457200" algn="l"/>
              </a:tabLst>
            </a:pPr>
            <a:endParaRPr lang="en-US" sz="1800" b="1">
              <a:effectLst/>
              <a:latin typeface="Calibri" panose="020F0502020204030204" pitchFamily="34" charset="0"/>
              <a:ea typeface="Times New Roman" panose="02020603050405020304" pitchFamily="18" charset="0"/>
            </a:endParaRPr>
          </a:p>
          <a:p>
            <a:pPr marL="0" marR="0" lvl="0" indent="0">
              <a:spcAft>
                <a:spcPts val="0"/>
              </a:spcAft>
              <a:buSzPts val="1000"/>
              <a:buFont typeface="Symbol" panose="05050102010706020507" pitchFamily="18" charset="2"/>
              <a:buNone/>
              <a:tabLst>
                <a:tab pos="457200" algn="l"/>
              </a:tabLst>
            </a:pPr>
            <a:r>
              <a:rPr lang="en-US" sz="1800" b="1">
                <a:effectLst/>
                <a:latin typeface="Calibri" panose="020F0502020204030204" pitchFamily="34" charset="0"/>
                <a:ea typeface="Times New Roman" panose="02020603050405020304" pitchFamily="18" charset="0"/>
              </a:rPr>
              <a:t>Share Agenda. Then take slide down to talk about the Why and OneDrive Overview.</a:t>
            </a:r>
          </a:p>
          <a:p>
            <a:pPr marL="0" marR="0" lvl="0" indent="0">
              <a:spcAft>
                <a:spcPts val="0"/>
              </a:spcAft>
              <a:buSzPts val="1000"/>
              <a:buFont typeface="Symbol" panose="05050102010706020507" pitchFamily="18" charset="2"/>
              <a:buNone/>
              <a:tabLst>
                <a:tab pos="457200" algn="l"/>
              </a:tabLst>
            </a:pPr>
            <a:endParaRPr lang="en-US" sz="1800">
              <a:effectLst/>
              <a:latin typeface="Calibri" panose="020F0502020204030204" pitchFamily="34" charset="0"/>
              <a:ea typeface="Times New Roman" panose="02020603050405020304" pitchFamily="18" charset="0"/>
            </a:endParaRPr>
          </a:p>
          <a:p>
            <a:pPr marL="0" marR="0" lvl="0" indent="0">
              <a:spcAft>
                <a:spcPts val="0"/>
              </a:spcAft>
              <a:buSzPts val="1000"/>
              <a:buFont typeface="Symbol" panose="05050102010706020507" pitchFamily="18" charset="2"/>
              <a:buNone/>
              <a:tabLst>
                <a:tab pos="457200" algn="l"/>
              </a:tabLst>
            </a:pPr>
            <a:r>
              <a:rPr lang="en-US" sz="1800">
                <a:effectLst/>
                <a:latin typeface="Calibri" panose="020F0502020204030204" pitchFamily="34" charset="0"/>
                <a:ea typeface="Times New Roman" panose="02020603050405020304" pitchFamily="18" charset="0"/>
              </a:rPr>
              <a:t>Why? </a:t>
            </a:r>
            <a:r>
              <a:rPr lang="en-US" sz="1800" b="0" i="0" u="none" strike="noStrike">
                <a:solidFill>
                  <a:srgbClr val="000000"/>
                </a:solidFill>
                <a:effectLst/>
                <a:latin typeface="Arial" panose="020B0604020202020204" pitchFamily="34" charset="0"/>
              </a:rPr>
              <a:t>Teaching, research, and creative work can not occur without technology and technology is evolving faster than ever - all while security risks continue to grow. OIT works with the campus community to continually support these changing technological needs and security concerns. To better enable OIT to understand and support faculty needs, especially given the variety of ways in which faculty use technology, a mechanism for more direct communication is essential. These community sessions will act as a space for individual faculty and members of OIT to come together, discuss specific technology changes and challenges, so as to ensure technology acts as an enabler to faculty’s work and productivity.</a:t>
            </a:r>
            <a:endParaRPr lang="en-US" sz="1800" b="0" i="0" u="none" strike="noStrike">
              <a:solidFill>
                <a:srgbClr val="000000"/>
              </a:solidFill>
              <a:effectLst/>
              <a:latin typeface="Calibri" panose="020F0502020204030204" pitchFamily="34" charset="0"/>
            </a:endParaRPr>
          </a:p>
          <a:p>
            <a:pPr marL="0" marR="0" lvl="0" indent="0">
              <a:spcAft>
                <a:spcPts val="0"/>
              </a:spcAft>
              <a:buSzPts val="1000"/>
              <a:buFont typeface="Symbol" panose="05050102010706020507" pitchFamily="18" charset="2"/>
              <a:buNone/>
              <a:tabLst>
                <a:tab pos="457200" algn="l"/>
              </a:tabLst>
            </a:pPr>
            <a:endParaRPr lang="en-US" sz="1800" b="0" i="0" u="none" strike="noStrike">
              <a:solidFill>
                <a:srgbClr val="000000"/>
              </a:solidFill>
              <a:effectLst/>
              <a:latin typeface="Calibri" panose="020F0502020204030204" pitchFamily="34" charset="0"/>
              <a:ea typeface="Times New Roman" panose="02020603050405020304" pitchFamily="18" charset="0"/>
            </a:endParaRPr>
          </a:p>
          <a:p>
            <a:pPr marL="0" marR="0" lvl="0" indent="0">
              <a:spcAft>
                <a:spcPts val="0"/>
              </a:spcAft>
              <a:buSzPts val="1000"/>
              <a:buFont typeface="Symbol" panose="05050102010706020507" pitchFamily="18" charset="2"/>
              <a:buNone/>
              <a:tabLst>
                <a:tab pos="457200" algn="l"/>
              </a:tabLst>
            </a:pPr>
            <a:r>
              <a:rPr lang="en-US" sz="1800" b="0" i="0" u="none" strike="noStrike">
                <a:solidFill>
                  <a:srgbClr val="000000"/>
                </a:solidFill>
                <a:effectLst/>
                <a:latin typeface="Calibri" panose="020F0502020204030204" pitchFamily="34" charset="0"/>
                <a:ea typeface="Times New Roman" panose="02020603050405020304" pitchFamily="18" charset="0"/>
              </a:rPr>
              <a:t>Intent of our meeting. </a:t>
            </a:r>
            <a:r>
              <a:rPr lang="en-US" sz="1800" b="0" i="0" u="none" strike="noStrike">
                <a:solidFill>
                  <a:srgbClr val="000000"/>
                </a:solidFill>
                <a:effectLst/>
                <a:latin typeface="Arial" panose="020B0604020202020204" pitchFamily="34" charset="0"/>
              </a:rPr>
              <a:t>Due to the rapid acceleration of the rate of change around information technology (IT) and the impact of this change on faculty’s day-to-day interactions with technology, this meeting is a space to have regular </a:t>
            </a:r>
            <a:r>
              <a:rPr lang="en-US" sz="1800" b="1" i="0" u="none" strike="noStrike">
                <a:solidFill>
                  <a:srgbClr val="000000"/>
                </a:solidFill>
                <a:effectLst/>
                <a:latin typeface="Arial" panose="020B0604020202020204" pitchFamily="34" charset="0"/>
              </a:rPr>
              <a:t>dialogue </a:t>
            </a:r>
            <a:r>
              <a:rPr lang="en-US" sz="1800" b="0" i="0" u="none" strike="noStrike">
                <a:solidFill>
                  <a:srgbClr val="000000"/>
                </a:solidFill>
                <a:effectLst/>
                <a:latin typeface="Arial" panose="020B0604020202020204" pitchFamily="34" charset="0"/>
              </a:rPr>
              <a:t>and feedback between individual faculty and OIT regarding specific technology topics so as to work together and ensure technology is enabling faculty’s work all while ensuring good stewardship of CU Boulder’s IT investments and the campus community.</a:t>
            </a:r>
          </a:p>
          <a:p>
            <a:pPr marL="0" marR="0" lvl="0" indent="0">
              <a:spcAft>
                <a:spcPts val="0"/>
              </a:spcAft>
              <a:buSzPts val="1000"/>
              <a:buFont typeface="Symbol" panose="05050102010706020507" pitchFamily="18" charset="2"/>
              <a:buNone/>
              <a:tabLst>
                <a:tab pos="457200" algn="l"/>
              </a:tabLst>
            </a:pPr>
            <a:endParaRPr lang="en-US" sz="1800" b="0" i="0" u="none" strike="noStrike">
              <a:solidFill>
                <a:srgbClr val="000000"/>
              </a:solidFill>
              <a:effectLst/>
              <a:latin typeface="Arial" panose="020B0604020202020204" pitchFamily="34" charset="0"/>
            </a:endParaRPr>
          </a:p>
          <a:p>
            <a:pPr marL="0" marR="0" lvl="0" indent="0">
              <a:spcAft>
                <a:spcPts val="0"/>
              </a:spcAft>
              <a:buSzPts val="1000"/>
              <a:buFont typeface="Symbol" panose="05050102010706020507" pitchFamily="18" charset="2"/>
              <a:buNone/>
              <a:tabLst>
                <a:tab pos="457200" algn="l"/>
              </a:tabLst>
            </a:pPr>
            <a:r>
              <a:rPr lang="en-US" sz="1800" b="0" i="0" u="none" strike="noStrike">
                <a:solidFill>
                  <a:srgbClr val="000000"/>
                </a:solidFill>
                <a:effectLst/>
                <a:latin typeface="Arial" panose="020B0604020202020204" pitchFamily="34" charset="0"/>
              </a:rPr>
              <a:t>How are topics chosen? IT topics or related issues that impact faculty will be discussed and chosen via discussions with the Boulder Faculty Assembly’s Academic Technologies and Services Committee (BFA ATSC) chair and OIT liaisons to the BFA ATSC. The initial focus will be in the productivity space with recent technology changes such as OneDrive, Email/Quarantine, Google Drive, etc., and it may also include proposed changes to solicit faculty input.</a:t>
            </a:r>
            <a:endParaRPr lang="en-US" sz="4800" b="0" i="0" u="none" strike="noStrike">
              <a:solidFill>
                <a:srgbClr val="000000"/>
              </a:solidFill>
              <a:effectLst/>
              <a:latin typeface="Arial" panose="020B0604020202020204" pitchFamily="34" charset="0"/>
            </a:endParaRPr>
          </a:p>
          <a:p>
            <a:pPr marL="0" marR="0" lvl="0" indent="0">
              <a:spcAft>
                <a:spcPts val="0"/>
              </a:spcAft>
              <a:buSzPts val="1000"/>
              <a:buFont typeface="Symbol" panose="05050102010706020507" pitchFamily="18" charset="2"/>
              <a:buNone/>
              <a:tabLst>
                <a:tab pos="457200" algn="l"/>
              </a:tabLst>
            </a:pPr>
            <a:endParaRPr lang="en-US" sz="4800" b="0" i="0" u="none" strike="noStrike">
              <a:solidFill>
                <a:srgbClr val="000000"/>
              </a:solidFill>
              <a:effectLst/>
              <a:latin typeface="Arial" panose="020B0604020202020204" pitchFamily="34" charset="0"/>
            </a:endParaRPr>
          </a:p>
          <a:p>
            <a:pPr marL="0" marR="0" lvl="0" indent="0">
              <a:spcAft>
                <a:spcPts val="0"/>
              </a:spcAft>
              <a:buSzPts val="1000"/>
              <a:buFont typeface="Symbol" panose="05050102010706020507" pitchFamily="18" charset="2"/>
              <a:buNone/>
              <a:tabLst>
                <a:tab pos="457200" algn="l"/>
              </a:tabLst>
            </a:pPr>
            <a:r>
              <a:rPr lang="en-US" sz="4800" b="0" i="0" u="none" strike="noStrike">
                <a:solidFill>
                  <a:srgbClr val="000000"/>
                </a:solidFill>
                <a:effectLst/>
                <a:latin typeface="Arial" panose="020B0604020202020204" pitchFamily="34" charset="0"/>
              </a:rPr>
              <a:t>Logistics: twice monthly meetings</a:t>
            </a:r>
          </a:p>
          <a:p>
            <a:pPr marL="0" marR="0" lvl="0" indent="0">
              <a:spcAft>
                <a:spcPts val="0"/>
              </a:spcAft>
              <a:buSzPts val="1000"/>
              <a:buFont typeface="Symbol" panose="05050102010706020507" pitchFamily="18" charset="2"/>
              <a:buNone/>
              <a:tabLst>
                <a:tab pos="457200" algn="l"/>
              </a:tabLst>
            </a:pPr>
            <a:endParaRPr lang="en-US" sz="4800" b="0" i="0" u="none" strike="noStrike">
              <a:solidFill>
                <a:srgbClr val="000000"/>
              </a:solidFill>
              <a:effectLst/>
              <a:latin typeface="Arial" panose="020B0604020202020204" pitchFamily="34" charset="0"/>
            </a:endParaRPr>
          </a:p>
          <a:p>
            <a:pPr marL="0" marR="0" lvl="0" indent="0">
              <a:spcAft>
                <a:spcPts val="0"/>
              </a:spcAft>
              <a:buSzPts val="1000"/>
              <a:buFont typeface="Symbol" panose="05050102010706020507" pitchFamily="18" charset="2"/>
              <a:buNone/>
              <a:tabLst>
                <a:tab pos="457200" algn="l"/>
              </a:tabLst>
            </a:pPr>
            <a:r>
              <a:rPr lang="en-US" sz="4800" b="0" i="0" u="none" strike="noStrike">
                <a:solidFill>
                  <a:srgbClr val="000000"/>
                </a:solidFill>
                <a:effectLst/>
                <a:latin typeface="Arial" panose="020B0604020202020204" pitchFamily="34" charset="0"/>
              </a:rPr>
              <a:t>Format of Discussion Space.</a:t>
            </a:r>
            <a:br>
              <a:rPr lang="en-US" sz="4800"/>
            </a:br>
            <a:endParaRPr lang="en-US" sz="3200" b="0">
              <a:effectLst/>
            </a:endParaRPr>
          </a:p>
          <a:p>
            <a:pPr marL="158750" indent="0">
              <a:buNone/>
            </a:pPr>
            <a:br>
              <a:rPr lang="en-US" sz="3200"/>
            </a:br>
            <a:endParaRPr lang="en-US" sz="1800">
              <a:effectLst/>
              <a:latin typeface="Calibri" panose="020F0502020204030204" pitchFamily="34" charset="0"/>
              <a:ea typeface="Times New Roman" panose="02020603050405020304" pitchFamily="18" charset="0"/>
            </a:endParaRPr>
          </a:p>
          <a:p>
            <a:pPr marL="342900" marR="0" lvl="0" indent="-342900">
              <a:spcAft>
                <a:spcPts val="0"/>
              </a:spcAft>
              <a:buSzPts val="1000"/>
              <a:buFont typeface="Symbol" panose="05050102010706020507" pitchFamily="18" charset="2"/>
              <a:buChar char=""/>
              <a:tabLst>
                <a:tab pos="457200" algn="l"/>
              </a:tabLst>
            </a:pPr>
            <a:endParaRPr lang="en-US" sz="1800">
              <a:effectLst/>
              <a:latin typeface="Calibri" panose="020F0502020204030204" pitchFamily="34" charset="0"/>
              <a:ea typeface="Calibri" panose="020F0502020204030204" pitchFamily="34" charset="0"/>
            </a:endParaRPr>
          </a:p>
          <a:p>
            <a:pPr marL="342900" marR="0" lvl="0" indent="-342900">
              <a:spcAft>
                <a:spcPts val="0"/>
              </a:spcAft>
              <a:buSzPts val="1000"/>
              <a:buFont typeface="Symbol" panose="05050102010706020507" pitchFamily="18" charset="2"/>
              <a:buChar char=""/>
              <a:tabLst>
                <a:tab pos="457200" algn="l"/>
              </a:tabLst>
            </a:pPr>
            <a:endParaRPr lang="en-US" sz="1800">
              <a:effectLst/>
              <a:latin typeface="Calibri" panose="020F0502020204030204" pitchFamily="34" charset="0"/>
              <a:ea typeface="Calibri" panose="020F0502020204030204" pitchFamily="34" charset="0"/>
            </a:endParaRPr>
          </a:p>
          <a:p>
            <a:pPr marL="342900" marR="0" lvl="0" indent="-342900">
              <a:spcAft>
                <a:spcPts val="0"/>
              </a:spcAft>
              <a:buSzPts val="1000"/>
              <a:buFont typeface="Symbol" panose="05050102010706020507" pitchFamily="18" charset="2"/>
              <a:buChar char=""/>
              <a:tabLst>
                <a:tab pos="457200" algn="l"/>
              </a:tabLst>
            </a:pPr>
            <a:endParaRPr lang="en-US" sz="1800">
              <a:effectLst/>
              <a:latin typeface="Calibri" panose="020F0502020204030204" pitchFamily="34" charset="0"/>
              <a:ea typeface="Calibri" panose="020F0502020204030204" pitchFamily="34" charset="0"/>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636917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Quote">
  <p:cSld name="CUSTOM_19">
    <p:spTree>
      <p:nvGrpSpPr>
        <p:cNvPr id="1" name="Shape 42"/>
        <p:cNvGrpSpPr/>
        <p:nvPr/>
      </p:nvGrpSpPr>
      <p:grpSpPr>
        <a:xfrm>
          <a:off x="0" y="0"/>
          <a:ext cx="0" cy="0"/>
          <a:chOff x="0" y="0"/>
          <a:chExt cx="0" cy="0"/>
        </a:xfrm>
      </p:grpSpPr>
      <p:sp>
        <p:nvSpPr>
          <p:cNvPr id="43" name="Google Shape;43;p5"/>
          <p:cNvSpPr txBox="1">
            <a:spLocks noGrp="1"/>
          </p:cNvSpPr>
          <p:nvPr>
            <p:ph type="title"/>
          </p:nvPr>
        </p:nvSpPr>
        <p:spPr>
          <a:xfrm>
            <a:off x="2745150" y="3382800"/>
            <a:ext cx="3653700" cy="273300"/>
          </a:xfrm>
          <a:prstGeom prst="rect">
            <a:avLst/>
          </a:prstGeom>
        </p:spPr>
        <p:txBody>
          <a:bodyPr spcFirstLastPara="1" wrap="square" lIns="91425" tIns="91425" rIns="91425" bIns="91425" anchor="ctr" anchorCtr="0">
            <a:noAutofit/>
          </a:bodyPr>
          <a:lstStyle>
            <a:lvl1pPr lvl="0" algn="ctr">
              <a:spcBef>
                <a:spcPts val="0"/>
              </a:spcBef>
              <a:spcAft>
                <a:spcPts val="0"/>
              </a:spcAft>
              <a:buSzPts val="1600"/>
              <a:buFont typeface="Roboto"/>
              <a:buNone/>
              <a:defRPr sz="1600" b="0">
                <a:solidFill>
                  <a:schemeClr val="accent5"/>
                </a:solidFill>
              </a:defRPr>
            </a:lvl1pPr>
            <a:lvl2pPr lvl="1" algn="ctr">
              <a:spcBef>
                <a:spcPts val="0"/>
              </a:spcBef>
              <a:spcAft>
                <a:spcPts val="0"/>
              </a:spcAft>
              <a:buSzPts val="1600"/>
              <a:buFont typeface="Roboto"/>
              <a:buNone/>
              <a:defRPr sz="1600">
                <a:latin typeface="Roboto"/>
                <a:ea typeface="Roboto"/>
                <a:cs typeface="Roboto"/>
                <a:sym typeface="Roboto"/>
              </a:defRPr>
            </a:lvl2pPr>
            <a:lvl3pPr lvl="2" algn="ctr">
              <a:spcBef>
                <a:spcPts val="0"/>
              </a:spcBef>
              <a:spcAft>
                <a:spcPts val="0"/>
              </a:spcAft>
              <a:buSzPts val="1600"/>
              <a:buFont typeface="Roboto"/>
              <a:buNone/>
              <a:defRPr sz="1600">
                <a:latin typeface="Roboto"/>
                <a:ea typeface="Roboto"/>
                <a:cs typeface="Roboto"/>
                <a:sym typeface="Roboto"/>
              </a:defRPr>
            </a:lvl3pPr>
            <a:lvl4pPr lvl="3" algn="ctr">
              <a:spcBef>
                <a:spcPts val="0"/>
              </a:spcBef>
              <a:spcAft>
                <a:spcPts val="0"/>
              </a:spcAft>
              <a:buSzPts val="1600"/>
              <a:buFont typeface="Roboto"/>
              <a:buNone/>
              <a:defRPr sz="1600">
                <a:latin typeface="Roboto"/>
                <a:ea typeface="Roboto"/>
                <a:cs typeface="Roboto"/>
                <a:sym typeface="Roboto"/>
              </a:defRPr>
            </a:lvl4pPr>
            <a:lvl5pPr lvl="4" algn="ctr">
              <a:spcBef>
                <a:spcPts val="0"/>
              </a:spcBef>
              <a:spcAft>
                <a:spcPts val="0"/>
              </a:spcAft>
              <a:buSzPts val="1600"/>
              <a:buFont typeface="Roboto"/>
              <a:buNone/>
              <a:defRPr sz="1600">
                <a:latin typeface="Roboto"/>
                <a:ea typeface="Roboto"/>
                <a:cs typeface="Roboto"/>
                <a:sym typeface="Roboto"/>
              </a:defRPr>
            </a:lvl5pPr>
            <a:lvl6pPr lvl="5" algn="ctr">
              <a:spcBef>
                <a:spcPts val="0"/>
              </a:spcBef>
              <a:spcAft>
                <a:spcPts val="0"/>
              </a:spcAft>
              <a:buSzPts val="1600"/>
              <a:buFont typeface="Roboto"/>
              <a:buNone/>
              <a:defRPr sz="1600">
                <a:latin typeface="Roboto"/>
                <a:ea typeface="Roboto"/>
                <a:cs typeface="Roboto"/>
                <a:sym typeface="Roboto"/>
              </a:defRPr>
            </a:lvl6pPr>
            <a:lvl7pPr lvl="6" algn="ctr">
              <a:spcBef>
                <a:spcPts val="0"/>
              </a:spcBef>
              <a:spcAft>
                <a:spcPts val="0"/>
              </a:spcAft>
              <a:buSzPts val="1600"/>
              <a:buFont typeface="Roboto"/>
              <a:buNone/>
              <a:defRPr sz="1600">
                <a:latin typeface="Roboto"/>
                <a:ea typeface="Roboto"/>
                <a:cs typeface="Roboto"/>
                <a:sym typeface="Roboto"/>
              </a:defRPr>
            </a:lvl7pPr>
            <a:lvl8pPr lvl="7" algn="ctr">
              <a:spcBef>
                <a:spcPts val="0"/>
              </a:spcBef>
              <a:spcAft>
                <a:spcPts val="0"/>
              </a:spcAft>
              <a:buSzPts val="1600"/>
              <a:buFont typeface="Roboto"/>
              <a:buNone/>
              <a:defRPr sz="1600">
                <a:latin typeface="Roboto"/>
                <a:ea typeface="Roboto"/>
                <a:cs typeface="Roboto"/>
                <a:sym typeface="Roboto"/>
              </a:defRPr>
            </a:lvl8pPr>
            <a:lvl9pPr lvl="8" algn="ctr">
              <a:spcBef>
                <a:spcPts val="0"/>
              </a:spcBef>
              <a:spcAft>
                <a:spcPts val="0"/>
              </a:spcAft>
              <a:buSzPts val="1600"/>
              <a:buFont typeface="Roboto"/>
              <a:buNone/>
              <a:defRPr sz="1600">
                <a:latin typeface="Roboto"/>
                <a:ea typeface="Roboto"/>
                <a:cs typeface="Roboto"/>
                <a:sym typeface="Roboto"/>
              </a:defRPr>
            </a:lvl9pPr>
          </a:lstStyle>
          <a:p>
            <a:r>
              <a:rPr lang="en-US"/>
              <a:t>Click to edit Master title style</a:t>
            </a:r>
            <a:endParaRPr/>
          </a:p>
        </p:txBody>
      </p:sp>
      <p:sp>
        <p:nvSpPr>
          <p:cNvPr id="44" name="Google Shape;44;p5"/>
          <p:cNvSpPr txBox="1">
            <a:spLocks noGrp="1"/>
          </p:cNvSpPr>
          <p:nvPr>
            <p:ph type="subTitle" idx="1"/>
          </p:nvPr>
        </p:nvSpPr>
        <p:spPr>
          <a:xfrm>
            <a:off x="1711650" y="1945499"/>
            <a:ext cx="5720700" cy="10965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600"/>
              <a:buNone/>
              <a:defRPr sz="2500">
                <a:latin typeface="Roboto Medium"/>
                <a:ea typeface="Roboto Medium"/>
                <a:cs typeface="Roboto Medium"/>
                <a:sym typeface="Roboto Medium"/>
              </a:defRPr>
            </a:lvl1pPr>
            <a:lvl2pPr lvl="1">
              <a:spcBef>
                <a:spcPts val="0"/>
              </a:spcBef>
              <a:spcAft>
                <a:spcPts val="0"/>
              </a:spcAft>
              <a:buSzPts val="1600"/>
              <a:buNone/>
              <a:defRPr/>
            </a:lvl2pPr>
            <a:lvl3pPr lvl="2">
              <a:spcBef>
                <a:spcPts val="1600"/>
              </a:spcBef>
              <a:spcAft>
                <a:spcPts val="0"/>
              </a:spcAft>
              <a:buSzPts val="1600"/>
              <a:buNone/>
              <a:defRPr/>
            </a:lvl3pPr>
            <a:lvl4pPr lvl="3">
              <a:spcBef>
                <a:spcPts val="1600"/>
              </a:spcBef>
              <a:spcAft>
                <a:spcPts val="0"/>
              </a:spcAft>
              <a:buSzPts val="1600"/>
              <a:buNone/>
              <a:defRPr/>
            </a:lvl4pPr>
            <a:lvl5pPr lvl="4">
              <a:spcBef>
                <a:spcPts val="1600"/>
              </a:spcBef>
              <a:spcAft>
                <a:spcPts val="0"/>
              </a:spcAft>
              <a:buSzPts val="1600"/>
              <a:buNone/>
              <a:defRPr/>
            </a:lvl5pPr>
            <a:lvl6pPr lvl="5">
              <a:spcBef>
                <a:spcPts val="1600"/>
              </a:spcBef>
              <a:spcAft>
                <a:spcPts val="0"/>
              </a:spcAft>
              <a:buSzPts val="1600"/>
              <a:buNone/>
              <a:defRPr/>
            </a:lvl6pPr>
            <a:lvl7pPr lvl="6">
              <a:spcBef>
                <a:spcPts val="1600"/>
              </a:spcBef>
              <a:spcAft>
                <a:spcPts val="0"/>
              </a:spcAft>
              <a:buSzPts val="1600"/>
              <a:buNone/>
              <a:defRPr/>
            </a:lvl7pPr>
            <a:lvl8pPr lvl="7">
              <a:spcBef>
                <a:spcPts val="1600"/>
              </a:spcBef>
              <a:spcAft>
                <a:spcPts val="0"/>
              </a:spcAft>
              <a:buSzPts val="1600"/>
              <a:buNone/>
              <a:defRPr/>
            </a:lvl8pPr>
            <a:lvl9pPr lvl="8">
              <a:spcBef>
                <a:spcPts val="1600"/>
              </a:spcBef>
              <a:spcAft>
                <a:spcPts val="1600"/>
              </a:spcAft>
              <a:buSzPts val="1600"/>
              <a:buNone/>
              <a:defRPr/>
            </a:lvl9pPr>
          </a:lstStyle>
          <a:p>
            <a:r>
              <a:rPr lang="en-US"/>
              <a:t>Click to edit Master subtitle style</a:t>
            </a:r>
            <a:endParaRPr/>
          </a:p>
        </p:txBody>
      </p:sp>
      <p:sp>
        <p:nvSpPr>
          <p:cNvPr id="45" name="Google Shape;45;p5"/>
          <p:cNvSpPr/>
          <p:nvPr/>
        </p:nvSpPr>
        <p:spPr>
          <a:xfrm rot="5400000" flipH="1">
            <a:off x="2252021" y="-2185315"/>
            <a:ext cx="2274515" cy="4463304"/>
          </a:xfrm>
          <a:custGeom>
            <a:avLst/>
            <a:gdLst/>
            <a:ahLst/>
            <a:cxnLst/>
            <a:rect l="l" t="t" r="r" b="b"/>
            <a:pathLst>
              <a:path w="90555" h="177697" extrusionOk="0">
                <a:moveTo>
                  <a:pt x="90555" y="0"/>
                </a:moveTo>
                <a:lnTo>
                  <a:pt x="3072" y="115128"/>
                </a:lnTo>
                <a:cubicBezTo>
                  <a:pt x="228" y="118768"/>
                  <a:pt x="1" y="123887"/>
                  <a:pt x="2503" y="127755"/>
                </a:cubicBezTo>
                <a:lnTo>
                  <a:pt x="34243" y="177697"/>
                </a:lnTo>
                <a:lnTo>
                  <a:pt x="90555" y="177697"/>
                </a:lnTo>
                <a:lnTo>
                  <a:pt x="905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5"/>
          <p:cNvSpPr/>
          <p:nvPr/>
        </p:nvSpPr>
        <p:spPr>
          <a:xfrm rot="5400000" flipH="1">
            <a:off x="195546" y="-1734540"/>
            <a:ext cx="2274515" cy="4463304"/>
          </a:xfrm>
          <a:custGeom>
            <a:avLst/>
            <a:gdLst/>
            <a:ahLst/>
            <a:cxnLst/>
            <a:rect l="l" t="t" r="r" b="b"/>
            <a:pathLst>
              <a:path w="90555" h="177697" extrusionOk="0">
                <a:moveTo>
                  <a:pt x="90555" y="0"/>
                </a:moveTo>
                <a:lnTo>
                  <a:pt x="3072" y="115128"/>
                </a:lnTo>
                <a:cubicBezTo>
                  <a:pt x="228" y="118768"/>
                  <a:pt x="1" y="123887"/>
                  <a:pt x="2503" y="127755"/>
                </a:cubicBezTo>
                <a:lnTo>
                  <a:pt x="34243" y="177697"/>
                </a:lnTo>
                <a:lnTo>
                  <a:pt x="90555" y="177697"/>
                </a:lnTo>
                <a:lnTo>
                  <a:pt x="905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5"/>
          <p:cNvSpPr/>
          <p:nvPr/>
        </p:nvSpPr>
        <p:spPr>
          <a:xfrm rot="-5400000" flipH="1">
            <a:off x="6065671" y="2594711"/>
            <a:ext cx="2274515" cy="4463304"/>
          </a:xfrm>
          <a:custGeom>
            <a:avLst/>
            <a:gdLst/>
            <a:ahLst/>
            <a:cxnLst/>
            <a:rect l="l" t="t" r="r" b="b"/>
            <a:pathLst>
              <a:path w="90555" h="177697" extrusionOk="0">
                <a:moveTo>
                  <a:pt x="90555" y="0"/>
                </a:moveTo>
                <a:lnTo>
                  <a:pt x="3072" y="115128"/>
                </a:lnTo>
                <a:cubicBezTo>
                  <a:pt x="228" y="118768"/>
                  <a:pt x="1" y="123887"/>
                  <a:pt x="2503" y="127755"/>
                </a:cubicBezTo>
                <a:lnTo>
                  <a:pt x="34243" y="177697"/>
                </a:lnTo>
                <a:lnTo>
                  <a:pt x="90555" y="177697"/>
                </a:lnTo>
                <a:lnTo>
                  <a:pt x="905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97"/>
        <p:cNvGrpSpPr/>
        <p:nvPr/>
      </p:nvGrpSpPr>
      <p:grpSpPr>
        <a:xfrm>
          <a:off x="0" y="0"/>
          <a:ext cx="0" cy="0"/>
          <a:chOff x="0" y="0"/>
          <a:chExt cx="0" cy="0"/>
        </a:xfrm>
      </p:grpSpPr>
      <p:sp>
        <p:nvSpPr>
          <p:cNvPr id="198" name="Google Shape;198;p21"/>
          <p:cNvSpPr txBox="1">
            <a:spLocks noGrp="1"/>
          </p:cNvSpPr>
          <p:nvPr>
            <p:ph type="title"/>
          </p:nvPr>
        </p:nvSpPr>
        <p:spPr>
          <a:xfrm>
            <a:off x="2980925" y="539500"/>
            <a:ext cx="3240900" cy="501600"/>
          </a:xfrm>
          <a:prstGeom prst="rect">
            <a:avLst/>
          </a:prstGeom>
        </p:spPr>
        <p:txBody>
          <a:bodyPr spcFirstLastPara="1" wrap="square" lIns="91425" tIns="91425" rIns="91425" bIns="91425" anchor="ctr" anchorCtr="0">
            <a:noAutofit/>
          </a:bodyPr>
          <a:lstStyle>
            <a:lvl1pPr lvl="0">
              <a:spcBef>
                <a:spcPts val="0"/>
              </a:spcBef>
              <a:spcAft>
                <a:spcPts val="0"/>
              </a:spcAft>
              <a:buSzPts val="4000"/>
              <a:buFont typeface="Oswald Regular"/>
              <a:buNone/>
              <a:defRPr sz="3500" b="0">
                <a:latin typeface="Oswald Regular"/>
                <a:ea typeface="Oswald Regular"/>
                <a:cs typeface="Oswald Regular"/>
                <a:sym typeface="Oswald Regular"/>
              </a:defRPr>
            </a:lvl1pPr>
            <a:lvl2pPr lvl="1">
              <a:spcBef>
                <a:spcPts val="0"/>
              </a:spcBef>
              <a:spcAft>
                <a:spcPts val="0"/>
              </a:spcAft>
              <a:buSzPts val="4000"/>
              <a:buFont typeface="Oswald Regular"/>
              <a:buNone/>
              <a:defRPr sz="4000" b="0">
                <a:latin typeface="Oswald Regular"/>
                <a:ea typeface="Oswald Regular"/>
                <a:cs typeface="Oswald Regular"/>
                <a:sym typeface="Oswald Regular"/>
              </a:defRPr>
            </a:lvl2pPr>
            <a:lvl3pPr lvl="2">
              <a:spcBef>
                <a:spcPts val="0"/>
              </a:spcBef>
              <a:spcAft>
                <a:spcPts val="0"/>
              </a:spcAft>
              <a:buSzPts val="4000"/>
              <a:buFont typeface="Oswald Regular"/>
              <a:buNone/>
              <a:defRPr sz="4000" b="0">
                <a:latin typeface="Oswald Regular"/>
                <a:ea typeface="Oswald Regular"/>
                <a:cs typeface="Oswald Regular"/>
                <a:sym typeface="Oswald Regular"/>
              </a:defRPr>
            </a:lvl3pPr>
            <a:lvl4pPr lvl="3">
              <a:spcBef>
                <a:spcPts val="0"/>
              </a:spcBef>
              <a:spcAft>
                <a:spcPts val="0"/>
              </a:spcAft>
              <a:buSzPts val="4000"/>
              <a:buFont typeface="Oswald Regular"/>
              <a:buNone/>
              <a:defRPr sz="4000" b="0">
                <a:latin typeface="Oswald Regular"/>
                <a:ea typeface="Oswald Regular"/>
                <a:cs typeface="Oswald Regular"/>
                <a:sym typeface="Oswald Regular"/>
              </a:defRPr>
            </a:lvl4pPr>
            <a:lvl5pPr lvl="4">
              <a:spcBef>
                <a:spcPts val="0"/>
              </a:spcBef>
              <a:spcAft>
                <a:spcPts val="0"/>
              </a:spcAft>
              <a:buSzPts val="4000"/>
              <a:buFont typeface="Oswald Regular"/>
              <a:buNone/>
              <a:defRPr sz="4000" b="0">
                <a:latin typeface="Oswald Regular"/>
                <a:ea typeface="Oswald Regular"/>
                <a:cs typeface="Oswald Regular"/>
                <a:sym typeface="Oswald Regular"/>
              </a:defRPr>
            </a:lvl5pPr>
            <a:lvl6pPr lvl="5">
              <a:spcBef>
                <a:spcPts val="0"/>
              </a:spcBef>
              <a:spcAft>
                <a:spcPts val="0"/>
              </a:spcAft>
              <a:buSzPts val="4000"/>
              <a:buFont typeface="Oswald Regular"/>
              <a:buNone/>
              <a:defRPr sz="4000" b="0">
                <a:latin typeface="Oswald Regular"/>
                <a:ea typeface="Oswald Regular"/>
                <a:cs typeface="Oswald Regular"/>
                <a:sym typeface="Oswald Regular"/>
              </a:defRPr>
            </a:lvl6pPr>
            <a:lvl7pPr lvl="6">
              <a:spcBef>
                <a:spcPts val="0"/>
              </a:spcBef>
              <a:spcAft>
                <a:spcPts val="0"/>
              </a:spcAft>
              <a:buSzPts val="4000"/>
              <a:buFont typeface="Oswald Regular"/>
              <a:buNone/>
              <a:defRPr sz="4000" b="0">
                <a:latin typeface="Oswald Regular"/>
                <a:ea typeface="Oswald Regular"/>
                <a:cs typeface="Oswald Regular"/>
                <a:sym typeface="Oswald Regular"/>
              </a:defRPr>
            </a:lvl7pPr>
            <a:lvl8pPr lvl="7">
              <a:spcBef>
                <a:spcPts val="0"/>
              </a:spcBef>
              <a:spcAft>
                <a:spcPts val="0"/>
              </a:spcAft>
              <a:buSzPts val="4000"/>
              <a:buFont typeface="Oswald Regular"/>
              <a:buNone/>
              <a:defRPr sz="4000" b="0">
                <a:latin typeface="Oswald Regular"/>
                <a:ea typeface="Oswald Regular"/>
                <a:cs typeface="Oswald Regular"/>
                <a:sym typeface="Oswald Regular"/>
              </a:defRPr>
            </a:lvl8pPr>
            <a:lvl9pPr lvl="8">
              <a:spcBef>
                <a:spcPts val="0"/>
              </a:spcBef>
              <a:spcAft>
                <a:spcPts val="0"/>
              </a:spcAft>
              <a:buSzPts val="4000"/>
              <a:buFont typeface="Oswald Regular"/>
              <a:buNone/>
              <a:defRPr sz="4000" b="0">
                <a:latin typeface="Oswald Regular"/>
                <a:ea typeface="Oswald Regular"/>
                <a:cs typeface="Oswald Regular"/>
                <a:sym typeface="Oswald Regular"/>
              </a:defRPr>
            </a:lvl9pPr>
          </a:lstStyle>
          <a:p>
            <a:r>
              <a:rPr lang="en-US"/>
              <a:t>Click to edit Master title style</a:t>
            </a:r>
            <a:endParaRPr/>
          </a:p>
        </p:txBody>
      </p:sp>
      <p:sp>
        <p:nvSpPr>
          <p:cNvPr id="199" name="Google Shape;199;p21"/>
          <p:cNvSpPr txBox="1">
            <a:spLocks noGrp="1"/>
          </p:cNvSpPr>
          <p:nvPr>
            <p:ph type="subTitle" idx="1"/>
          </p:nvPr>
        </p:nvSpPr>
        <p:spPr>
          <a:xfrm>
            <a:off x="2980925" y="1898238"/>
            <a:ext cx="4009200" cy="5016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accent4"/>
              </a:buClr>
              <a:buSzPts val="1800"/>
              <a:buNone/>
              <a:defRPr sz="1800">
                <a:solidFill>
                  <a:schemeClr val="accent4"/>
                </a:solidFill>
              </a:defRPr>
            </a:lvl1pPr>
            <a:lvl2pPr lvl="1">
              <a:lnSpc>
                <a:spcPct val="100000"/>
              </a:lnSpc>
              <a:spcBef>
                <a:spcPts val="0"/>
              </a:spcBef>
              <a:spcAft>
                <a:spcPts val="0"/>
              </a:spcAft>
              <a:buClr>
                <a:schemeClr val="accent4"/>
              </a:buClr>
              <a:buSzPts val="1800"/>
              <a:buNone/>
              <a:defRPr sz="1800">
                <a:solidFill>
                  <a:schemeClr val="accent4"/>
                </a:solidFill>
              </a:defRPr>
            </a:lvl2pPr>
            <a:lvl3pPr lvl="2">
              <a:lnSpc>
                <a:spcPct val="100000"/>
              </a:lnSpc>
              <a:spcBef>
                <a:spcPts val="0"/>
              </a:spcBef>
              <a:spcAft>
                <a:spcPts val="0"/>
              </a:spcAft>
              <a:buClr>
                <a:schemeClr val="accent4"/>
              </a:buClr>
              <a:buSzPts val="1800"/>
              <a:buNone/>
              <a:defRPr sz="1800">
                <a:solidFill>
                  <a:schemeClr val="accent4"/>
                </a:solidFill>
              </a:defRPr>
            </a:lvl3pPr>
            <a:lvl4pPr lvl="3">
              <a:lnSpc>
                <a:spcPct val="100000"/>
              </a:lnSpc>
              <a:spcBef>
                <a:spcPts val="0"/>
              </a:spcBef>
              <a:spcAft>
                <a:spcPts val="0"/>
              </a:spcAft>
              <a:buClr>
                <a:schemeClr val="accent4"/>
              </a:buClr>
              <a:buSzPts val="1800"/>
              <a:buNone/>
              <a:defRPr sz="1800">
                <a:solidFill>
                  <a:schemeClr val="accent4"/>
                </a:solidFill>
              </a:defRPr>
            </a:lvl4pPr>
            <a:lvl5pPr lvl="4">
              <a:lnSpc>
                <a:spcPct val="100000"/>
              </a:lnSpc>
              <a:spcBef>
                <a:spcPts val="0"/>
              </a:spcBef>
              <a:spcAft>
                <a:spcPts val="0"/>
              </a:spcAft>
              <a:buClr>
                <a:schemeClr val="accent4"/>
              </a:buClr>
              <a:buSzPts val="1800"/>
              <a:buNone/>
              <a:defRPr sz="1800">
                <a:solidFill>
                  <a:schemeClr val="accent4"/>
                </a:solidFill>
              </a:defRPr>
            </a:lvl5pPr>
            <a:lvl6pPr lvl="5">
              <a:lnSpc>
                <a:spcPct val="100000"/>
              </a:lnSpc>
              <a:spcBef>
                <a:spcPts val="0"/>
              </a:spcBef>
              <a:spcAft>
                <a:spcPts val="0"/>
              </a:spcAft>
              <a:buClr>
                <a:schemeClr val="accent4"/>
              </a:buClr>
              <a:buSzPts val="1800"/>
              <a:buNone/>
              <a:defRPr sz="1800">
                <a:solidFill>
                  <a:schemeClr val="accent4"/>
                </a:solidFill>
              </a:defRPr>
            </a:lvl6pPr>
            <a:lvl7pPr lvl="6">
              <a:lnSpc>
                <a:spcPct val="100000"/>
              </a:lnSpc>
              <a:spcBef>
                <a:spcPts val="0"/>
              </a:spcBef>
              <a:spcAft>
                <a:spcPts val="0"/>
              </a:spcAft>
              <a:buClr>
                <a:schemeClr val="accent4"/>
              </a:buClr>
              <a:buSzPts val="1800"/>
              <a:buNone/>
              <a:defRPr sz="1800">
                <a:solidFill>
                  <a:schemeClr val="accent4"/>
                </a:solidFill>
              </a:defRPr>
            </a:lvl7pPr>
            <a:lvl8pPr lvl="7">
              <a:lnSpc>
                <a:spcPct val="100000"/>
              </a:lnSpc>
              <a:spcBef>
                <a:spcPts val="0"/>
              </a:spcBef>
              <a:spcAft>
                <a:spcPts val="0"/>
              </a:spcAft>
              <a:buClr>
                <a:schemeClr val="accent4"/>
              </a:buClr>
              <a:buSzPts val="1800"/>
              <a:buNone/>
              <a:defRPr sz="1800">
                <a:solidFill>
                  <a:schemeClr val="accent4"/>
                </a:solidFill>
              </a:defRPr>
            </a:lvl8pPr>
            <a:lvl9pPr lvl="8">
              <a:lnSpc>
                <a:spcPct val="100000"/>
              </a:lnSpc>
              <a:spcBef>
                <a:spcPts val="0"/>
              </a:spcBef>
              <a:spcAft>
                <a:spcPts val="0"/>
              </a:spcAft>
              <a:buClr>
                <a:schemeClr val="accent4"/>
              </a:buClr>
              <a:buSzPts val="1800"/>
              <a:buNone/>
              <a:defRPr sz="1800">
                <a:solidFill>
                  <a:schemeClr val="accent4"/>
                </a:solidFill>
              </a:defRPr>
            </a:lvl9pPr>
          </a:lstStyle>
          <a:p>
            <a:r>
              <a:rPr lang="en-US"/>
              <a:t>Click to edit Master subtitle style</a:t>
            </a:r>
            <a:endParaRPr/>
          </a:p>
        </p:txBody>
      </p:sp>
      <p:sp>
        <p:nvSpPr>
          <p:cNvPr id="200" name="Google Shape;200;p21"/>
          <p:cNvSpPr txBox="1">
            <a:spLocks noGrp="1"/>
          </p:cNvSpPr>
          <p:nvPr>
            <p:ph type="subTitle" idx="2"/>
          </p:nvPr>
        </p:nvSpPr>
        <p:spPr>
          <a:xfrm>
            <a:off x="2980925" y="2598163"/>
            <a:ext cx="4009200" cy="15615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accent4"/>
              </a:buClr>
              <a:buSzPts val="1400"/>
              <a:buChar char="●"/>
              <a:defRPr/>
            </a:lvl1pPr>
            <a:lvl2pPr lvl="1">
              <a:lnSpc>
                <a:spcPct val="100000"/>
              </a:lnSpc>
              <a:spcBef>
                <a:spcPts val="0"/>
              </a:spcBef>
              <a:spcAft>
                <a:spcPts val="0"/>
              </a:spcAft>
              <a:buSzPts val="1600"/>
              <a:buChar char="○"/>
              <a:defRPr/>
            </a:lvl2pPr>
            <a:lvl3pPr lvl="2">
              <a:lnSpc>
                <a:spcPct val="100000"/>
              </a:lnSpc>
              <a:spcBef>
                <a:spcPts val="0"/>
              </a:spcBef>
              <a:spcAft>
                <a:spcPts val="0"/>
              </a:spcAft>
              <a:buSzPts val="1600"/>
              <a:buChar char="■"/>
              <a:defRPr/>
            </a:lvl3pPr>
            <a:lvl4pPr lvl="3">
              <a:lnSpc>
                <a:spcPct val="100000"/>
              </a:lnSpc>
              <a:spcBef>
                <a:spcPts val="0"/>
              </a:spcBef>
              <a:spcAft>
                <a:spcPts val="0"/>
              </a:spcAft>
              <a:buSzPts val="1600"/>
              <a:buChar char="●"/>
              <a:defRPr/>
            </a:lvl4pPr>
            <a:lvl5pPr lvl="4">
              <a:lnSpc>
                <a:spcPct val="100000"/>
              </a:lnSpc>
              <a:spcBef>
                <a:spcPts val="0"/>
              </a:spcBef>
              <a:spcAft>
                <a:spcPts val="0"/>
              </a:spcAft>
              <a:buSzPts val="1600"/>
              <a:buChar char="○"/>
              <a:defRPr/>
            </a:lvl5pPr>
            <a:lvl6pPr lvl="5">
              <a:lnSpc>
                <a:spcPct val="100000"/>
              </a:lnSpc>
              <a:spcBef>
                <a:spcPts val="0"/>
              </a:spcBef>
              <a:spcAft>
                <a:spcPts val="0"/>
              </a:spcAft>
              <a:buSzPts val="1600"/>
              <a:buChar char="■"/>
              <a:defRPr/>
            </a:lvl6pPr>
            <a:lvl7pPr lvl="6">
              <a:lnSpc>
                <a:spcPct val="100000"/>
              </a:lnSpc>
              <a:spcBef>
                <a:spcPts val="0"/>
              </a:spcBef>
              <a:spcAft>
                <a:spcPts val="0"/>
              </a:spcAft>
              <a:buSzPts val="1600"/>
              <a:buChar char="●"/>
              <a:defRPr/>
            </a:lvl7pPr>
            <a:lvl8pPr lvl="7">
              <a:lnSpc>
                <a:spcPct val="100000"/>
              </a:lnSpc>
              <a:spcBef>
                <a:spcPts val="0"/>
              </a:spcBef>
              <a:spcAft>
                <a:spcPts val="0"/>
              </a:spcAft>
              <a:buSzPts val="1600"/>
              <a:buChar char="○"/>
              <a:defRPr/>
            </a:lvl8pPr>
            <a:lvl9pPr lvl="8">
              <a:lnSpc>
                <a:spcPct val="100000"/>
              </a:lnSpc>
              <a:spcBef>
                <a:spcPts val="0"/>
              </a:spcBef>
              <a:spcAft>
                <a:spcPts val="0"/>
              </a:spcAft>
              <a:buSzPts val="1600"/>
              <a:buChar char="■"/>
              <a:defRPr/>
            </a:lvl9pPr>
          </a:lstStyle>
          <a:p>
            <a:r>
              <a:rPr lang="en-US"/>
              <a:t>Click to edit Master subtitle style</a:t>
            </a:r>
            <a:endParaRPr/>
          </a:p>
        </p:txBody>
      </p:sp>
      <p:sp>
        <p:nvSpPr>
          <p:cNvPr id="201" name="Google Shape;201;p21"/>
          <p:cNvSpPr/>
          <p:nvPr/>
        </p:nvSpPr>
        <p:spPr>
          <a:xfrm>
            <a:off x="7798758" y="680286"/>
            <a:ext cx="2274515" cy="4463304"/>
          </a:xfrm>
          <a:custGeom>
            <a:avLst/>
            <a:gdLst/>
            <a:ahLst/>
            <a:cxnLst/>
            <a:rect l="l" t="t" r="r" b="b"/>
            <a:pathLst>
              <a:path w="90555" h="177697" extrusionOk="0">
                <a:moveTo>
                  <a:pt x="90555" y="0"/>
                </a:moveTo>
                <a:lnTo>
                  <a:pt x="3072" y="115128"/>
                </a:lnTo>
                <a:cubicBezTo>
                  <a:pt x="228" y="118768"/>
                  <a:pt x="1" y="123887"/>
                  <a:pt x="2503" y="127755"/>
                </a:cubicBezTo>
                <a:lnTo>
                  <a:pt x="34243" y="177697"/>
                </a:lnTo>
                <a:lnTo>
                  <a:pt x="90555" y="177697"/>
                </a:lnTo>
                <a:lnTo>
                  <a:pt x="905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1"/>
          <p:cNvSpPr/>
          <p:nvPr/>
        </p:nvSpPr>
        <p:spPr>
          <a:xfrm rot="5400000" flipH="1">
            <a:off x="141227" y="-2149901"/>
            <a:ext cx="2274515" cy="4463304"/>
          </a:xfrm>
          <a:custGeom>
            <a:avLst/>
            <a:gdLst/>
            <a:ahLst/>
            <a:cxnLst/>
            <a:rect l="l" t="t" r="r" b="b"/>
            <a:pathLst>
              <a:path w="90555" h="177697" extrusionOk="0">
                <a:moveTo>
                  <a:pt x="90555" y="0"/>
                </a:moveTo>
                <a:lnTo>
                  <a:pt x="3072" y="115128"/>
                </a:lnTo>
                <a:cubicBezTo>
                  <a:pt x="228" y="118768"/>
                  <a:pt x="1" y="123887"/>
                  <a:pt x="2503" y="127755"/>
                </a:cubicBezTo>
                <a:lnTo>
                  <a:pt x="34243" y="177697"/>
                </a:lnTo>
                <a:lnTo>
                  <a:pt x="90555" y="177697"/>
                </a:lnTo>
                <a:lnTo>
                  <a:pt x="905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hanks">
  <p:cSld name="CUSTOM_9">
    <p:spTree>
      <p:nvGrpSpPr>
        <p:cNvPr id="1" name="Shape 236"/>
        <p:cNvGrpSpPr/>
        <p:nvPr/>
      </p:nvGrpSpPr>
      <p:grpSpPr>
        <a:xfrm>
          <a:off x="0" y="0"/>
          <a:ext cx="0" cy="0"/>
          <a:chOff x="0" y="0"/>
          <a:chExt cx="0" cy="0"/>
        </a:xfrm>
      </p:grpSpPr>
      <p:sp>
        <p:nvSpPr>
          <p:cNvPr id="237" name="Google Shape;237;p27"/>
          <p:cNvSpPr txBox="1">
            <a:spLocks noGrp="1"/>
          </p:cNvSpPr>
          <p:nvPr>
            <p:ph type="subTitle" idx="1"/>
          </p:nvPr>
        </p:nvSpPr>
        <p:spPr>
          <a:xfrm>
            <a:off x="2857500" y="1688238"/>
            <a:ext cx="3429000" cy="1248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accent2"/>
              </a:buClr>
              <a:buSzPts val="1600"/>
              <a:buFont typeface="Nunito"/>
              <a:buNone/>
              <a:defRPr sz="1600">
                <a:solidFill>
                  <a:schemeClr val="accent2"/>
                </a:solidFill>
              </a:defRPr>
            </a:lvl1pPr>
            <a:lvl2pPr lvl="1" rtl="0">
              <a:spcBef>
                <a:spcPts val="0"/>
              </a:spcBef>
              <a:spcAft>
                <a:spcPts val="0"/>
              </a:spcAft>
              <a:buClr>
                <a:schemeClr val="accent2"/>
              </a:buClr>
              <a:buSzPts val="1600"/>
              <a:buFont typeface="Nunito"/>
              <a:buNone/>
              <a:defRPr sz="1600">
                <a:solidFill>
                  <a:schemeClr val="accent2"/>
                </a:solidFill>
                <a:latin typeface="Nunito"/>
                <a:ea typeface="Nunito"/>
                <a:cs typeface="Nunito"/>
                <a:sym typeface="Nunito"/>
              </a:defRPr>
            </a:lvl2pPr>
            <a:lvl3pPr lvl="2" rtl="0">
              <a:spcBef>
                <a:spcPts val="1600"/>
              </a:spcBef>
              <a:spcAft>
                <a:spcPts val="0"/>
              </a:spcAft>
              <a:buClr>
                <a:schemeClr val="accent2"/>
              </a:buClr>
              <a:buSzPts val="1600"/>
              <a:buFont typeface="Nunito"/>
              <a:buNone/>
              <a:defRPr sz="1600">
                <a:solidFill>
                  <a:schemeClr val="accent2"/>
                </a:solidFill>
                <a:latin typeface="Nunito"/>
                <a:ea typeface="Nunito"/>
                <a:cs typeface="Nunito"/>
                <a:sym typeface="Nunito"/>
              </a:defRPr>
            </a:lvl3pPr>
            <a:lvl4pPr lvl="3" rtl="0">
              <a:spcBef>
                <a:spcPts val="1600"/>
              </a:spcBef>
              <a:spcAft>
                <a:spcPts val="0"/>
              </a:spcAft>
              <a:buClr>
                <a:schemeClr val="accent2"/>
              </a:buClr>
              <a:buSzPts val="1600"/>
              <a:buFont typeface="Nunito"/>
              <a:buNone/>
              <a:defRPr sz="1600">
                <a:solidFill>
                  <a:schemeClr val="accent2"/>
                </a:solidFill>
                <a:latin typeface="Nunito"/>
                <a:ea typeface="Nunito"/>
                <a:cs typeface="Nunito"/>
                <a:sym typeface="Nunito"/>
              </a:defRPr>
            </a:lvl4pPr>
            <a:lvl5pPr lvl="4" rtl="0">
              <a:spcBef>
                <a:spcPts val="1600"/>
              </a:spcBef>
              <a:spcAft>
                <a:spcPts val="0"/>
              </a:spcAft>
              <a:buClr>
                <a:schemeClr val="accent2"/>
              </a:buClr>
              <a:buSzPts val="1600"/>
              <a:buFont typeface="Nunito"/>
              <a:buNone/>
              <a:defRPr sz="1600">
                <a:solidFill>
                  <a:schemeClr val="accent2"/>
                </a:solidFill>
                <a:latin typeface="Nunito"/>
                <a:ea typeface="Nunito"/>
                <a:cs typeface="Nunito"/>
                <a:sym typeface="Nunito"/>
              </a:defRPr>
            </a:lvl5pPr>
            <a:lvl6pPr lvl="5" rtl="0">
              <a:spcBef>
                <a:spcPts val="1600"/>
              </a:spcBef>
              <a:spcAft>
                <a:spcPts val="0"/>
              </a:spcAft>
              <a:buClr>
                <a:schemeClr val="accent2"/>
              </a:buClr>
              <a:buSzPts val="1600"/>
              <a:buFont typeface="Nunito"/>
              <a:buNone/>
              <a:defRPr sz="1600">
                <a:solidFill>
                  <a:schemeClr val="accent2"/>
                </a:solidFill>
                <a:latin typeface="Nunito"/>
                <a:ea typeface="Nunito"/>
                <a:cs typeface="Nunito"/>
                <a:sym typeface="Nunito"/>
              </a:defRPr>
            </a:lvl6pPr>
            <a:lvl7pPr lvl="6" rtl="0">
              <a:spcBef>
                <a:spcPts val="1600"/>
              </a:spcBef>
              <a:spcAft>
                <a:spcPts val="0"/>
              </a:spcAft>
              <a:buClr>
                <a:schemeClr val="accent2"/>
              </a:buClr>
              <a:buSzPts val="1600"/>
              <a:buFont typeface="Nunito"/>
              <a:buNone/>
              <a:defRPr sz="1600">
                <a:solidFill>
                  <a:schemeClr val="accent2"/>
                </a:solidFill>
                <a:latin typeface="Nunito"/>
                <a:ea typeface="Nunito"/>
                <a:cs typeface="Nunito"/>
                <a:sym typeface="Nunito"/>
              </a:defRPr>
            </a:lvl7pPr>
            <a:lvl8pPr lvl="7" rtl="0">
              <a:spcBef>
                <a:spcPts val="1600"/>
              </a:spcBef>
              <a:spcAft>
                <a:spcPts val="0"/>
              </a:spcAft>
              <a:buClr>
                <a:schemeClr val="accent2"/>
              </a:buClr>
              <a:buSzPts val="1600"/>
              <a:buFont typeface="Nunito"/>
              <a:buNone/>
              <a:defRPr sz="1600">
                <a:solidFill>
                  <a:schemeClr val="accent2"/>
                </a:solidFill>
                <a:latin typeface="Nunito"/>
                <a:ea typeface="Nunito"/>
                <a:cs typeface="Nunito"/>
                <a:sym typeface="Nunito"/>
              </a:defRPr>
            </a:lvl8pPr>
            <a:lvl9pPr lvl="8" rtl="0">
              <a:spcBef>
                <a:spcPts val="1600"/>
              </a:spcBef>
              <a:spcAft>
                <a:spcPts val="1600"/>
              </a:spcAft>
              <a:buClr>
                <a:schemeClr val="accent2"/>
              </a:buClr>
              <a:buSzPts val="1600"/>
              <a:buFont typeface="Nunito"/>
              <a:buNone/>
              <a:defRPr sz="1600">
                <a:solidFill>
                  <a:schemeClr val="accent2"/>
                </a:solidFill>
                <a:latin typeface="Nunito"/>
                <a:ea typeface="Nunito"/>
                <a:cs typeface="Nunito"/>
                <a:sym typeface="Nunito"/>
              </a:defRPr>
            </a:lvl9pPr>
          </a:lstStyle>
          <a:p>
            <a:r>
              <a:rPr lang="en-US"/>
              <a:t>Click to edit Master subtitle style</a:t>
            </a:r>
            <a:endParaRPr/>
          </a:p>
        </p:txBody>
      </p:sp>
      <p:sp>
        <p:nvSpPr>
          <p:cNvPr id="238" name="Google Shape;238;p27"/>
          <p:cNvSpPr txBox="1">
            <a:spLocks noGrp="1"/>
          </p:cNvSpPr>
          <p:nvPr>
            <p:ph type="ctrTitle"/>
          </p:nvPr>
        </p:nvSpPr>
        <p:spPr>
          <a:xfrm>
            <a:off x="2722350" y="539500"/>
            <a:ext cx="3699300" cy="9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3"/>
              </a:buClr>
              <a:buSzPts val="5200"/>
              <a:buNone/>
              <a:defRPr sz="7500" b="0">
                <a:latin typeface="Oswald Regular"/>
                <a:ea typeface="Oswald Regular"/>
                <a:cs typeface="Oswald Regular"/>
                <a:sym typeface="Oswald Regular"/>
              </a:defRPr>
            </a:lvl1pPr>
            <a:lvl2pPr lvl="1" algn="ctr" rtl="0">
              <a:lnSpc>
                <a:spcPct val="70000"/>
              </a:lnSpc>
              <a:spcBef>
                <a:spcPts val="0"/>
              </a:spcBef>
              <a:spcAft>
                <a:spcPts val="0"/>
              </a:spcAft>
              <a:buClr>
                <a:schemeClr val="accent3"/>
              </a:buClr>
              <a:buSzPts val="5200"/>
              <a:buNone/>
              <a:defRPr sz="5200">
                <a:solidFill>
                  <a:schemeClr val="accent3"/>
                </a:solidFill>
              </a:defRPr>
            </a:lvl2pPr>
            <a:lvl3pPr lvl="2" algn="ctr" rtl="0">
              <a:lnSpc>
                <a:spcPct val="70000"/>
              </a:lnSpc>
              <a:spcBef>
                <a:spcPts val="0"/>
              </a:spcBef>
              <a:spcAft>
                <a:spcPts val="0"/>
              </a:spcAft>
              <a:buClr>
                <a:schemeClr val="accent3"/>
              </a:buClr>
              <a:buSzPts val="5200"/>
              <a:buNone/>
              <a:defRPr sz="5200">
                <a:solidFill>
                  <a:schemeClr val="accent3"/>
                </a:solidFill>
              </a:defRPr>
            </a:lvl3pPr>
            <a:lvl4pPr lvl="3" algn="ctr" rtl="0">
              <a:lnSpc>
                <a:spcPct val="70000"/>
              </a:lnSpc>
              <a:spcBef>
                <a:spcPts val="0"/>
              </a:spcBef>
              <a:spcAft>
                <a:spcPts val="0"/>
              </a:spcAft>
              <a:buClr>
                <a:schemeClr val="accent3"/>
              </a:buClr>
              <a:buSzPts val="5200"/>
              <a:buNone/>
              <a:defRPr sz="5200">
                <a:solidFill>
                  <a:schemeClr val="accent3"/>
                </a:solidFill>
              </a:defRPr>
            </a:lvl4pPr>
            <a:lvl5pPr lvl="4" algn="ctr" rtl="0">
              <a:lnSpc>
                <a:spcPct val="70000"/>
              </a:lnSpc>
              <a:spcBef>
                <a:spcPts val="0"/>
              </a:spcBef>
              <a:spcAft>
                <a:spcPts val="0"/>
              </a:spcAft>
              <a:buClr>
                <a:schemeClr val="accent3"/>
              </a:buClr>
              <a:buSzPts val="5200"/>
              <a:buNone/>
              <a:defRPr sz="5200">
                <a:solidFill>
                  <a:schemeClr val="accent3"/>
                </a:solidFill>
              </a:defRPr>
            </a:lvl5pPr>
            <a:lvl6pPr lvl="5" algn="ctr" rtl="0">
              <a:lnSpc>
                <a:spcPct val="70000"/>
              </a:lnSpc>
              <a:spcBef>
                <a:spcPts val="0"/>
              </a:spcBef>
              <a:spcAft>
                <a:spcPts val="0"/>
              </a:spcAft>
              <a:buClr>
                <a:schemeClr val="accent3"/>
              </a:buClr>
              <a:buSzPts val="5200"/>
              <a:buNone/>
              <a:defRPr sz="5200">
                <a:solidFill>
                  <a:schemeClr val="accent3"/>
                </a:solidFill>
              </a:defRPr>
            </a:lvl6pPr>
            <a:lvl7pPr lvl="6" algn="ctr" rtl="0">
              <a:lnSpc>
                <a:spcPct val="70000"/>
              </a:lnSpc>
              <a:spcBef>
                <a:spcPts val="0"/>
              </a:spcBef>
              <a:spcAft>
                <a:spcPts val="0"/>
              </a:spcAft>
              <a:buClr>
                <a:schemeClr val="accent3"/>
              </a:buClr>
              <a:buSzPts val="5200"/>
              <a:buNone/>
              <a:defRPr sz="5200">
                <a:solidFill>
                  <a:schemeClr val="accent3"/>
                </a:solidFill>
              </a:defRPr>
            </a:lvl7pPr>
            <a:lvl8pPr lvl="7" algn="ctr" rtl="0">
              <a:lnSpc>
                <a:spcPct val="70000"/>
              </a:lnSpc>
              <a:spcBef>
                <a:spcPts val="0"/>
              </a:spcBef>
              <a:spcAft>
                <a:spcPts val="0"/>
              </a:spcAft>
              <a:buClr>
                <a:schemeClr val="accent3"/>
              </a:buClr>
              <a:buSzPts val="5200"/>
              <a:buNone/>
              <a:defRPr sz="5200">
                <a:solidFill>
                  <a:schemeClr val="accent3"/>
                </a:solidFill>
              </a:defRPr>
            </a:lvl8pPr>
            <a:lvl9pPr lvl="8" algn="ctr" rtl="0">
              <a:lnSpc>
                <a:spcPct val="70000"/>
              </a:lnSpc>
              <a:spcBef>
                <a:spcPts val="0"/>
              </a:spcBef>
              <a:spcAft>
                <a:spcPts val="0"/>
              </a:spcAft>
              <a:buClr>
                <a:schemeClr val="accent3"/>
              </a:buClr>
              <a:buSzPts val="5200"/>
              <a:buNone/>
              <a:defRPr sz="5200">
                <a:solidFill>
                  <a:schemeClr val="accent3"/>
                </a:solidFill>
              </a:defRPr>
            </a:lvl9pPr>
          </a:lstStyle>
          <a:p>
            <a:r>
              <a:rPr lang="en-US"/>
              <a:t>Click to edit Master title style</a:t>
            </a:r>
            <a:endParaRPr/>
          </a:p>
        </p:txBody>
      </p:sp>
      <p:sp>
        <p:nvSpPr>
          <p:cNvPr id="239" name="Google Shape;239;p27"/>
          <p:cNvSpPr txBox="1"/>
          <p:nvPr/>
        </p:nvSpPr>
        <p:spPr>
          <a:xfrm>
            <a:off x="2875650" y="3751013"/>
            <a:ext cx="3392700" cy="61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accent2"/>
                </a:solidFill>
                <a:latin typeface="Roboto"/>
                <a:ea typeface="Roboto"/>
                <a:cs typeface="Roboto"/>
                <a:sym typeface="Roboto"/>
              </a:rPr>
              <a:t>CREDITS</a:t>
            </a:r>
            <a:r>
              <a:rPr lang="en" sz="1200">
                <a:solidFill>
                  <a:schemeClr val="accent2"/>
                </a:solidFill>
                <a:latin typeface="Roboto"/>
                <a:ea typeface="Roboto"/>
                <a:cs typeface="Roboto"/>
                <a:sym typeface="Roboto"/>
              </a:rPr>
              <a:t>: This presentation template was created by </a:t>
            </a:r>
            <a:r>
              <a:rPr lang="en" sz="1200" b="1">
                <a:solidFill>
                  <a:schemeClr val="accent2"/>
                </a:solidFill>
                <a:uFill>
                  <a:noFill/>
                </a:uFill>
                <a:latin typeface="Roboto"/>
                <a:ea typeface="Roboto"/>
                <a:cs typeface="Roboto"/>
                <a:sym typeface="Roboto"/>
                <a:hlinkClick r:id="rId2">
                  <a:extLst>
                    <a:ext uri="{A12FA001-AC4F-418D-AE19-62706E023703}">
                      <ahyp:hlinkClr xmlns:ahyp="http://schemas.microsoft.com/office/drawing/2018/hyperlinkcolor" val="tx"/>
                    </a:ext>
                  </a:extLst>
                </a:hlinkClick>
              </a:rPr>
              <a:t>Slidesgo</a:t>
            </a:r>
            <a:r>
              <a:rPr lang="en" sz="1200">
                <a:solidFill>
                  <a:schemeClr val="accent2"/>
                </a:solidFill>
                <a:latin typeface="Roboto"/>
                <a:ea typeface="Roboto"/>
                <a:cs typeface="Roboto"/>
                <a:sym typeface="Roboto"/>
              </a:rPr>
              <a:t>, including icons by </a:t>
            </a:r>
            <a:r>
              <a:rPr lang="en" sz="1200" b="1">
                <a:solidFill>
                  <a:schemeClr val="accent2"/>
                </a:solidFill>
                <a:uFill>
                  <a:noFill/>
                </a:uFill>
                <a:latin typeface="Roboto"/>
                <a:ea typeface="Roboto"/>
                <a:cs typeface="Roboto"/>
                <a:sym typeface="Roboto"/>
                <a:hlinkClick r:id="rId3">
                  <a:extLst>
                    <a:ext uri="{A12FA001-AC4F-418D-AE19-62706E023703}">
                      <ahyp:hlinkClr xmlns:ahyp="http://schemas.microsoft.com/office/drawing/2018/hyperlinkcolor" val="tx"/>
                    </a:ext>
                  </a:extLst>
                </a:hlinkClick>
              </a:rPr>
              <a:t>Flaticon</a:t>
            </a:r>
            <a:r>
              <a:rPr lang="en" sz="1200">
                <a:solidFill>
                  <a:schemeClr val="accent2"/>
                </a:solidFill>
                <a:latin typeface="Roboto"/>
                <a:ea typeface="Roboto"/>
                <a:cs typeface="Roboto"/>
                <a:sym typeface="Roboto"/>
              </a:rPr>
              <a:t>, and infographics &amp; images by </a:t>
            </a:r>
            <a:r>
              <a:rPr lang="en" sz="1200" b="1">
                <a:solidFill>
                  <a:schemeClr val="accent2"/>
                </a:solidFill>
                <a:uFill>
                  <a:noFill/>
                </a:uFill>
                <a:latin typeface="Roboto"/>
                <a:ea typeface="Roboto"/>
                <a:cs typeface="Roboto"/>
                <a:sym typeface="Roboto"/>
                <a:hlinkClick r:id="rId4">
                  <a:extLst>
                    <a:ext uri="{A12FA001-AC4F-418D-AE19-62706E023703}">
                      <ahyp:hlinkClr xmlns:ahyp="http://schemas.microsoft.com/office/drawing/2018/hyperlinkcolor" val="tx"/>
                    </a:ext>
                  </a:extLst>
                </a:hlinkClick>
              </a:rPr>
              <a:t>Freepik</a:t>
            </a:r>
            <a:endParaRPr sz="1200" b="1">
              <a:solidFill>
                <a:schemeClr val="accent2"/>
              </a:solidFill>
              <a:latin typeface="Roboto"/>
              <a:ea typeface="Roboto"/>
              <a:cs typeface="Roboto"/>
              <a:sym typeface="Roboto"/>
            </a:endParaRPr>
          </a:p>
        </p:txBody>
      </p:sp>
      <p:sp>
        <p:nvSpPr>
          <p:cNvPr id="240" name="Google Shape;240;p27"/>
          <p:cNvSpPr/>
          <p:nvPr/>
        </p:nvSpPr>
        <p:spPr>
          <a:xfrm flipH="1">
            <a:off x="-1817020" y="250"/>
            <a:ext cx="3143154" cy="5143361"/>
          </a:xfrm>
          <a:custGeom>
            <a:avLst/>
            <a:gdLst/>
            <a:ahLst/>
            <a:cxnLst/>
            <a:rect l="l" t="t" r="r" b="b"/>
            <a:pathLst>
              <a:path w="125138" h="204772" extrusionOk="0">
                <a:moveTo>
                  <a:pt x="110008" y="0"/>
                </a:moveTo>
                <a:lnTo>
                  <a:pt x="3072" y="140838"/>
                </a:lnTo>
                <a:cubicBezTo>
                  <a:pt x="228" y="144478"/>
                  <a:pt x="0" y="149484"/>
                  <a:pt x="2503" y="153351"/>
                </a:cubicBezTo>
                <a:lnTo>
                  <a:pt x="35153" y="204772"/>
                </a:lnTo>
                <a:lnTo>
                  <a:pt x="125138" y="204772"/>
                </a:lnTo>
                <a:lnTo>
                  <a:pt x="12513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7"/>
          <p:cNvSpPr/>
          <p:nvPr/>
        </p:nvSpPr>
        <p:spPr>
          <a:xfrm rot="-5400000">
            <a:off x="6784852" y="-2149901"/>
            <a:ext cx="2274515" cy="4463304"/>
          </a:xfrm>
          <a:custGeom>
            <a:avLst/>
            <a:gdLst/>
            <a:ahLst/>
            <a:cxnLst/>
            <a:rect l="l" t="t" r="r" b="b"/>
            <a:pathLst>
              <a:path w="90555" h="177697" extrusionOk="0">
                <a:moveTo>
                  <a:pt x="90555" y="0"/>
                </a:moveTo>
                <a:lnTo>
                  <a:pt x="3072" y="115128"/>
                </a:lnTo>
                <a:cubicBezTo>
                  <a:pt x="228" y="118768"/>
                  <a:pt x="1" y="123887"/>
                  <a:pt x="2503" y="127755"/>
                </a:cubicBezTo>
                <a:lnTo>
                  <a:pt x="34243" y="177697"/>
                </a:lnTo>
                <a:lnTo>
                  <a:pt x="90555" y="177697"/>
                </a:lnTo>
                <a:lnTo>
                  <a:pt x="905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24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Oswald"/>
              <a:buNone/>
              <a:defRPr sz="2800" b="1">
                <a:solidFill>
                  <a:schemeClr val="lt1"/>
                </a:solidFill>
                <a:latin typeface="Oswald"/>
                <a:ea typeface="Oswald"/>
                <a:cs typeface="Oswald"/>
                <a:sym typeface="Oswald"/>
              </a:defRPr>
            </a:lvl1pPr>
            <a:lvl2pPr lvl="1">
              <a:spcBef>
                <a:spcPts val="0"/>
              </a:spcBef>
              <a:spcAft>
                <a:spcPts val="0"/>
              </a:spcAft>
              <a:buClr>
                <a:schemeClr val="lt1"/>
              </a:buClr>
              <a:buSzPts val="2800"/>
              <a:buFont typeface="Oswald"/>
              <a:buNone/>
              <a:defRPr sz="2800" b="1">
                <a:solidFill>
                  <a:schemeClr val="lt1"/>
                </a:solidFill>
                <a:latin typeface="Oswald"/>
                <a:ea typeface="Oswald"/>
                <a:cs typeface="Oswald"/>
                <a:sym typeface="Oswald"/>
              </a:defRPr>
            </a:lvl2pPr>
            <a:lvl3pPr lvl="2">
              <a:spcBef>
                <a:spcPts val="0"/>
              </a:spcBef>
              <a:spcAft>
                <a:spcPts val="0"/>
              </a:spcAft>
              <a:buClr>
                <a:schemeClr val="lt1"/>
              </a:buClr>
              <a:buSzPts val="2800"/>
              <a:buFont typeface="Oswald"/>
              <a:buNone/>
              <a:defRPr sz="2800" b="1">
                <a:solidFill>
                  <a:schemeClr val="lt1"/>
                </a:solidFill>
                <a:latin typeface="Oswald"/>
                <a:ea typeface="Oswald"/>
                <a:cs typeface="Oswald"/>
                <a:sym typeface="Oswald"/>
              </a:defRPr>
            </a:lvl3pPr>
            <a:lvl4pPr lvl="3">
              <a:spcBef>
                <a:spcPts val="0"/>
              </a:spcBef>
              <a:spcAft>
                <a:spcPts val="0"/>
              </a:spcAft>
              <a:buClr>
                <a:schemeClr val="lt1"/>
              </a:buClr>
              <a:buSzPts val="2800"/>
              <a:buFont typeface="Oswald"/>
              <a:buNone/>
              <a:defRPr sz="2800" b="1">
                <a:solidFill>
                  <a:schemeClr val="lt1"/>
                </a:solidFill>
                <a:latin typeface="Oswald"/>
                <a:ea typeface="Oswald"/>
                <a:cs typeface="Oswald"/>
                <a:sym typeface="Oswald"/>
              </a:defRPr>
            </a:lvl4pPr>
            <a:lvl5pPr lvl="4">
              <a:spcBef>
                <a:spcPts val="0"/>
              </a:spcBef>
              <a:spcAft>
                <a:spcPts val="0"/>
              </a:spcAft>
              <a:buClr>
                <a:schemeClr val="lt1"/>
              </a:buClr>
              <a:buSzPts val="2800"/>
              <a:buFont typeface="Oswald"/>
              <a:buNone/>
              <a:defRPr sz="2800" b="1">
                <a:solidFill>
                  <a:schemeClr val="lt1"/>
                </a:solidFill>
                <a:latin typeface="Oswald"/>
                <a:ea typeface="Oswald"/>
                <a:cs typeface="Oswald"/>
                <a:sym typeface="Oswald"/>
              </a:defRPr>
            </a:lvl5pPr>
            <a:lvl6pPr lvl="5">
              <a:spcBef>
                <a:spcPts val="0"/>
              </a:spcBef>
              <a:spcAft>
                <a:spcPts val="0"/>
              </a:spcAft>
              <a:buClr>
                <a:schemeClr val="lt1"/>
              </a:buClr>
              <a:buSzPts val="2800"/>
              <a:buFont typeface="Oswald"/>
              <a:buNone/>
              <a:defRPr sz="2800" b="1">
                <a:solidFill>
                  <a:schemeClr val="lt1"/>
                </a:solidFill>
                <a:latin typeface="Oswald"/>
                <a:ea typeface="Oswald"/>
                <a:cs typeface="Oswald"/>
                <a:sym typeface="Oswald"/>
              </a:defRPr>
            </a:lvl6pPr>
            <a:lvl7pPr lvl="6">
              <a:spcBef>
                <a:spcPts val="0"/>
              </a:spcBef>
              <a:spcAft>
                <a:spcPts val="0"/>
              </a:spcAft>
              <a:buClr>
                <a:schemeClr val="lt1"/>
              </a:buClr>
              <a:buSzPts val="2800"/>
              <a:buFont typeface="Oswald"/>
              <a:buNone/>
              <a:defRPr sz="2800" b="1">
                <a:solidFill>
                  <a:schemeClr val="lt1"/>
                </a:solidFill>
                <a:latin typeface="Oswald"/>
                <a:ea typeface="Oswald"/>
                <a:cs typeface="Oswald"/>
                <a:sym typeface="Oswald"/>
              </a:defRPr>
            </a:lvl7pPr>
            <a:lvl8pPr lvl="7">
              <a:spcBef>
                <a:spcPts val="0"/>
              </a:spcBef>
              <a:spcAft>
                <a:spcPts val="0"/>
              </a:spcAft>
              <a:buClr>
                <a:schemeClr val="lt1"/>
              </a:buClr>
              <a:buSzPts val="2800"/>
              <a:buFont typeface="Oswald"/>
              <a:buNone/>
              <a:defRPr sz="2800" b="1">
                <a:solidFill>
                  <a:schemeClr val="lt1"/>
                </a:solidFill>
                <a:latin typeface="Oswald"/>
                <a:ea typeface="Oswald"/>
                <a:cs typeface="Oswald"/>
                <a:sym typeface="Oswald"/>
              </a:defRPr>
            </a:lvl8pPr>
            <a:lvl9pPr lvl="8">
              <a:spcBef>
                <a:spcPts val="0"/>
              </a:spcBef>
              <a:spcAft>
                <a:spcPts val="0"/>
              </a:spcAft>
              <a:buClr>
                <a:schemeClr val="lt1"/>
              </a:buClr>
              <a:buSzPts val="2800"/>
              <a:buFont typeface="Oswald"/>
              <a:buNone/>
              <a:defRPr sz="2800" b="1">
                <a:solidFill>
                  <a:schemeClr val="lt1"/>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30200">
              <a:lnSpc>
                <a:spcPct val="115000"/>
              </a:lnSpc>
              <a:spcBef>
                <a:spcPts val="0"/>
              </a:spcBef>
              <a:spcAft>
                <a:spcPts val="0"/>
              </a:spcAft>
              <a:buClr>
                <a:schemeClr val="lt1"/>
              </a:buClr>
              <a:buSzPts val="1600"/>
              <a:buFont typeface="Roboto"/>
              <a:buChar char="●"/>
              <a:defRPr sz="1600">
                <a:solidFill>
                  <a:schemeClr val="lt1"/>
                </a:solidFill>
                <a:latin typeface="Roboto"/>
                <a:ea typeface="Roboto"/>
                <a:cs typeface="Roboto"/>
                <a:sym typeface="Roboto"/>
              </a:defRPr>
            </a:lvl1pPr>
            <a:lvl2pPr marL="914400" lvl="1" indent="-330200">
              <a:lnSpc>
                <a:spcPct val="115000"/>
              </a:lnSpc>
              <a:spcBef>
                <a:spcPts val="1600"/>
              </a:spcBef>
              <a:spcAft>
                <a:spcPts val="0"/>
              </a:spcAft>
              <a:buClr>
                <a:schemeClr val="lt1"/>
              </a:buClr>
              <a:buSzPts val="1600"/>
              <a:buFont typeface="Roboto"/>
              <a:buChar char="○"/>
              <a:defRPr sz="1600">
                <a:solidFill>
                  <a:schemeClr val="lt1"/>
                </a:solidFill>
                <a:latin typeface="Roboto"/>
                <a:ea typeface="Roboto"/>
                <a:cs typeface="Roboto"/>
                <a:sym typeface="Roboto"/>
              </a:defRPr>
            </a:lvl2pPr>
            <a:lvl3pPr marL="1371600" lvl="2" indent="-330200">
              <a:lnSpc>
                <a:spcPct val="115000"/>
              </a:lnSpc>
              <a:spcBef>
                <a:spcPts val="1600"/>
              </a:spcBef>
              <a:spcAft>
                <a:spcPts val="0"/>
              </a:spcAft>
              <a:buClr>
                <a:schemeClr val="lt1"/>
              </a:buClr>
              <a:buSzPts val="1600"/>
              <a:buFont typeface="Roboto"/>
              <a:buChar char="■"/>
              <a:defRPr sz="1600">
                <a:solidFill>
                  <a:schemeClr val="lt1"/>
                </a:solidFill>
                <a:latin typeface="Roboto"/>
                <a:ea typeface="Roboto"/>
                <a:cs typeface="Roboto"/>
                <a:sym typeface="Roboto"/>
              </a:defRPr>
            </a:lvl3pPr>
            <a:lvl4pPr marL="1828800" lvl="3" indent="-330200">
              <a:lnSpc>
                <a:spcPct val="115000"/>
              </a:lnSpc>
              <a:spcBef>
                <a:spcPts val="1600"/>
              </a:spcBef>
              <a:spcAft>
                <a:spcPts val="0"/>
              </a:spcAft>
              <a:buClr>
                <a:schemeClr val="lt1"/>
              </a:buClr>
              <a:buSzPts val="1600"/>
              <a:buFont typeface="Roboto"/>
              <a:buChar char="●"/>
              <a:defRPr sz="1600">
                <a:solidFill>
                  <a:schemeClr val="lt1"/>
                </a:solidFill>
                <a:latin typeface="Roboto"/>
                <a:ea typeface="Roboto"/>
                <a:cs typeface="Roboto"/>
                <a:sym typeface="Roboto"/>
              </a:defRPr>
            </a:lvl4pPr>
            <a:lvl5pPr marL="2286000" lvl="4" indent="-330200">
              <a:lnSpc>
                <a:spcPct val="115000"/>
              </a:lnSpc>
              <a:spcBef>
                <a:spcPts val="1600"/>
              </a:spcBef>
              <a:spcAft>
                <a:spcPts val="0"/>
              </a:spcAft>
              <a:buClr>
                <a:schemeClr val="lt1"/>
              </a:buClr>
              <a:buSzPts val="1600"/>
              <a:buFont typeface="Roboto"/>
              <a:buChar char="○"/>
              <a:defRPr sz="1600">
                <a:solidFill>
                  <a:schemeClr val="lt1"/>
                </a:solidFill>
                <a:latin typeface="Roboto"/>
                <a:ea typeface="Roboto"/>
                <a:cs typeface="Roboto"/>
                <a:sym typeface="Roboto"/>
              </a:defRPr>
            </a:lvl5pPr>
            <a:lvl6pPr marL="2743200" lvl="5" indent="-330200">
              <a:lnSpc>
                <a:spcPct val="115000"/>
              </a:lnSpc>
              <a:spcBef>
                <a:spcPts val="1600"/>
              </a:spcBef>
              <a:spcAft>
                <a:spcPts val="0"/>
              </a:spcAft>
              <a:buClr>
                <a:schemeClr val="lt1"/>
              </a:buClr>
              <a:buSzPts val="1600"/>
              <a:buFont typeface="Roboto"/>
              <a:buChar char="■"/>
              <a:defRPr sz="1600">
                <a:solidFill>
                  <a:schemeClr val="lt1"/>
                </a:solidFill>
                <a:latin typeface="Roboto"/>
                <a:ea typeface="Roboto"/>
                <a:cs typeface="Roboto"/>
                <a:sym typeface="Roboto"/>
              </a:defRPr>
            </a:lvl6pPr>
            <a:lvl7pPr marL="3200400" lvl="6" indent="-330200">
              <a:lnSpc>
                <a:spcPct val="115000"/>
              </a:lnSpc>
              <a:spcBef>
                <a:spcPts val="1600"/>
              </a:spcBef>
              <a:spcAft>
                <a:spcPts val="0"/>
              </a:spcAft>
              <a:buClr>
                <a:schemeClr val="lt1"/>
              </a:buClr>
              <a:buSzPts val="1600"/>
              <a:buFont typeface="Roboto"/>
              <a:buChar char="●"/>
              <a:defRPr sz="1600">
                <a:solidFill>
                  <a:schemeClr val="lt1"/>
                </a:solidFill>
                <a:latin typeface="Roboto"/>
                <a:ea typeface="Roboto"/>
                <a:cs typeface="Roboto"/>
                <a:sym typeface="Roboto"/>
              </a:defRPr>
            </a:lvl7pPr>
            <a:lvl8pPr marL="3657600" lvl="7" indent="-330200">
              <a:lnSpc>
                <a:spcPct val="115000"/>
              </a:lnSpc>
              <a:spcBef>
                <a:spcPts val="1600"/>
              </a:spcBef>
              <a:spcAft>
                <a:spcPts val="0"/>
              </a:spcAft>
              <a:buClr>
                <a:schemeClr val="lt1"/>
              </a:buClr>
              <a:buSzPts val="1600"/>
              <a:buFont typeface="Roboto"/>
              <a:buChar char="○"/>
              <a:defRPr sz="1600">
                <a:solidFill>
                  <a:schemeClr val="lt1"/>
                </a:solidFill>
                <a:latin typeface="Roboto"/>
                <a:ea typeface="Roboto"/>
                <a:cs typeface="Roboto"/>
                <a:sym typeface="Roboto"/>
              </a:defRPr>
            </a:lvl8pPr>
            <a:lvl9pPr marL="4114800" lvl="8" indent="-330200">
              <a:lnSpc>
                <a:spcPct val="115000"/>
              </a:lnSpc>
              <a:spcBef>
                <a:spcPts val="1600"/>
              </a:spcBef>
              <a:spcAft>
                <a:spcPts val="1600"/>
              </a:spcAft>
              <a:buClr>
                <a:schemeClr val="lt1"/>
              </a:buClr>
              <a:buSzPts val="1600"/>
              <a:buFont typeface="Roboto"/>
              <a:buChar char="■"/>
              <a:defRPr sz="1600">
                <a:solidFill>
                  <a:schemeClr val="lt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51" r:id="rId1"/>
    <p:sldLayoutId id="2147483667" r:id="rId2"/>
    <p:sldLayoutId id="2147483673" r:id="rId3"/>
    <p:sldLayoutId id="2147483675"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BE4160E-47C2-E846-9E3F-47D0A0413FCF}"/>
              </a:ext>
            </a:extLst>
          </p:cNvPr>
          <p:cNvSpPr>
            <a:spLocks noGrp="1"/>
          </p:cNvSpPr>
          <p:nvPr>
            <p:ph type="subTitle" idx="1"/>
          </p:nvPr>
        </p:nvSpPr>
        <p:spPr>
          <a:xfrm>
            <a:off x="808892" y="1945499"/>
            <a:ext cx="6623458" cy="1096500"/>
          </a:xfrm>
        </p:spPr>
        <p:txBody>
          <a:bodyPr/>
          <a:lstStyle/>
          <a:p>
            <a:r>
              <a:rPr lang="en-US" sz="3600" b="1" dirty="0"/>
              <a:t>Lab 18: Inrush and Operation Current</a:t>
            </a:r>
          </a:p>
        </p:txBody>
      </p:sp>
      <p:pic>
        <p:nvPicPr>
          <p:cNvPr id="4" name="Picture 3" descr="Logo&#10;&#10;Description automatically generated">
            <a:extLst>
              <a:ext uri="{FF2B5EF4-FFF2-40B4-BE49-F238E27FC236}">
                <a16:creationId xmlns:a16="http://schemas.microsoft.com/office/drawing/2014/main" id="{3C472264-A92A-BA4B-BB78-20CC781CBA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8624" y="4628041"/>
            <a:ext cx="2029522" cy="308147"/>
          </a:xfrm>
          <a:prstGeom prst="rect">
            <a:avLst/>
          </a:prstGeom>
        </p:spPr>
      </p:pic>
      <p:sp>
        <p:nvSpPr>
          <p:cNvPr id="6" name="Title 5">
            <a:extLst>
              <a:ext uri="{FF2B5EF4-FFF2-40B4-BE49-F238E27FC236}">
                <a16:creationId xmlns:a16="http://schemas.microsoft.com/office/drawing/2014/main" id="{F871B22F-C570-4AAC-AB48-D8B1470D3E71}"/>
              </a:ext>
            </a:extLst>
          </p:cNvPr>
          <p:cNvSpPr>
            <a:spLocks noGrp="1"/>
          </p:cNvSpPr>
          <p:nvPr>
            <p:ph type="title"/>
          </p:nvPr>
        </p:nvSpPr>
        <p:spPr>
          <a:xfrm>
            <a:off x="2515736" y="3206954"/>
            <a:ext cx="3653700" cy="273300"/>
          </a:xfrm>
        </p:spPr>
        <p:txBody>
          <a:bodyPr/>
          <a:lstStyle/>
          <a:p>
            <a:r>
              <a:rPr lang="en-US" dirty="0"/>
              <a:t>Alexander Martinez</a:t>
            </a:r>
          </a:p>
        </p:txBody>
      </p:sp>
    </p:spTree>
    <p:extLst>
      <p:ext uri="{BB962C8B-B14F-4D97-AF65-F5344CB8AC3E}">
        <p14:creationId xmlns:p14="http://schemas.microsoft.com/office/powerpoint/2010/main" val="19684377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8">
          <a:extLst>
            <a:ext uri="{FF2B5EF4-FFF2-40B4-BE49-F238E27FC236}">
              <a16:creationId xmlns:a16="http://schemas.microsoft.com/office/drawing/2014/main" id="{61C66900-C086-60AC-536F-DEC58FE2987B}"/>
            </a:ext>
          </a:extLst>
        </p:cNvPr>
        <p:cNvGrpSpPr/>
        <p:nvPr/>
      </p:nvGrpSpPr>
      <p:grpSpPr>
        <a:xfrm>
          <a:off x="0" y="0"/>
          <a:ext cx="0" cy="0"/>
          <a:chOff x="0" y="0"/>
          <a:chExt cx="0" cy="0"/>
        </a:xfrm>
      </p:grpSpPr>
      <p:sp>
        <p:nvSpPr>
          <p:cNvPr id="339" name="Google Shape;339;p40">
            <a:extLst>
              <a:ext uri="{FF2B5EF4-FFF2-40B4-BE49-F238E27FC236}">
                <a16:creationId xmlns:a16="http://schemas.microsoft.com/office/drawing/2014/main" id="{59EEE211-E654-5E58-8B26-859776E37E40}"/>
              </a:ext>
            </a:extLst>
          </p:cNvPr>
          <p:cNvSpPr txBox="1">
            <a:spLocks noGrp="1"/>
          </p:cNvSpPr>
          <p:nvPr>
            <p:ph type="title"/>
          </p:nvPr>
        </p:nvSpPr>
        <p:spPr>
          <a:xfrm>
            <a:off x="1440597" y="521723"/>
            <a:ext cx="6103290" cy="501600"/>
          </a:xfrm>
          <a:prstGeom prst="rect">
            <a:avLst/>
          </a:prstGeom>
        </p:spPr>
        <p:txBody>
          <a:bodyPr spcFirstLastPara="1" wrap="square" lIns="91425" tIns="91425" rIns="91425" bIns="91425" anchor="ctr" anchorCtr="0">
            <a:noAutofit/>
          </a:bodyPr>
          <a:lstStyle/>
          <a:p>
            <a:r>
              <a:rPr lang="en-US" b="1" dirty="0">
                <a:latin typeface="Roboto" panose="02000000000000000000" pitchFamily="2" charset="0"/>
                <a:ea typeface="Roboto" panose="02000000000000000000" pitchFamily="2" charset="0"/>
                <a:cs typeface="Roboto" panose="02000000000000000000" pitchFamily="2" charset="0"/>
              </a:rPr>
              <a:t>The Circuit</a:t>
            </a:r>
          </a:p>
        </p:txBody>
      </p:sp>
      <p:cxnSp>
        <p:nvCxnSpPr>
          <p:cNvPr id="340" name="Google Shape;340;p40">
            <a:extLst>
              <a:ext uri="{FF2B5EF4-FFF2-40B4-BE49-F238E27FC236}">
                <a16:creationId xmlns:a16="http://schemas.microsoft.com/office/drawing/2014/main" id="{87769663-1C8A-B4AE-2DAB-413AF4DAE271}"/>
              </a:ext>
            </a:extLst>
          </p:cNvPr>
          <p:cNvCxnSpPr/>
          <p:nvPr/>
        </p:nvCxnSpPr>
        <p:spPr>
          <a:xfrm>
            <a:off x="1446855" y="1056142"/>
            <a:ext cx="3933000" cy="0"/>
          </a:xfrm>
          <a:prstGeom prst="straightConnector1">
            <a:avLst/>
          </a:prstGeom>
          <a:noFill/>
          <a:ln w="19050" cap="flat" cmpd="sng">
            <a:solidFill>
              <a:schemeClr val="accent4"/>
            </a:solidFill>
            <a:prstDash val="solid"/>
            <a:round/>
            <a:headEnd type="none" w="med" len="med"/>
            <a:tailEnd type="none" w="med" len="med"/>
          </a:ln>
        </p:spPr>
      </p:cxnSp>
      <p:grpSp>
        <p:nvGrpSpPr>
          <p:cNvPr id="342" name="Google Shape;342;p40">
            <a:extLst>
              <a:ext uri="{FF2B5EF4-FFF2-40B4-BE49-F238E27FC236}">
                <a16:creationId xmlns:a16="http://schemas.microsoft.com/office/drawing/2014/main" id="{25259D78-F571-5C04-7DDC-F987119CB4EF}"/>
              </a:ext>
            </a:extLst>
          </p:cNvPr>
          <p:cNvGrpSpPr/>
          <p:nvPr/>
        </p:nvGrpSpPr>
        <p:grpSpPr>
          <a:xfrm>
            <a:off x="1099493" y="1824203"/>
            <a:ext cx="341104" cy="501604"/>
            <a:chOff x="6939800" y="2710075"/>
            <a:chExt cx="197650" cy="290650"/>
          </a:xfrm>
        </p:grpSpPr>
        <p:sp>
          <p:nvSpPr>
            <p:cNvPr id="343" name="Google Shape;343;p40">
              <a:extLst>
                <a:ext uri="{FF2B5EF4-FFF2-40B4-BE49-F238E27FC236}">
                  <a16:creationId xmlns:a16="http://schemas.microsoft.com/office/drawing/2014/main" id="{8219D598-A425-77C5-4655-B356F02E3BD1}"/>
                </a:ext>
              </a:extLst>
            </p:cNvPr>
            <p:cNvSpPr/>
            <p:nvPr/>
          </p:nvSpPr>
          <p:spPr>
            <a:xfrm>
              <a:off x="6939800" y="2710075"/>
              <a:ext cx="197650" cy="290650"/>
            </a:xfrm>
            <a:custGeom>
              <a:avLst/>
              <a:gdLst/>
              <a:ahLst/>
              <a:cxnLst/>
              <a:rect l="l" t="t" r="r" b="b"/>
              <a:pathLst>
                <a:path w="7906" h="11626" extrusionOk="0">
                  <a:moveTo>
                    <a:pt x="4650" y="466"/>
                  </a:moveTo>
                  <a:cubicBezTo>
                    <a:pt x="4777" y="466"/>
                    <a:pt x="4883" y="571"/>
                    <a:pt x="4883" y="698"/>
                  </a:cubicBezTo>
                  <a:lnTo>
                    <a:pt x="4883" y="3488"/>
                  </a:lnTo>
                  <a:cubicBezTo>
                    <a:pt x="4883" y="3618"/>
                    <a:pt x="4777" y="3721"/>
                    <a:pt x="4650" y="3721"/>
                  </a:cubicBezTo>
                  <a:lnTo>
                    <a:pt x="3255" y="3721"/>
                  </a:lnTo>
                  <a:cubicBezTo>
                    <a:pt x="3125" y="3721"/>
                    <a:pt x="3023" y="3618"/>
                    <a:pt x="3023" y="3488"/>
                  </a:cubicBezTo>
                  <a:lnTo>
                    <a:pt x="3023" y="698"/>
                  </a:lnTo>
                  <a:cubicBezTo>
                    <a:pt x="3023" y="571"/>
                    <a:pt x="3125" y="466"/>
                    <a:pt x="3255" y="466"/>
                  </a:cubicBezTo>
                  <a:close/>
                  <a:moveTo>
                    <a:pt x="7208" y="2326"/>
                  </a:moveTo>
                  <a:cubicBezTo>
                    <a:pt x="7335" y="2326"/>
                    <a:pt x="7440" y="2431"/>
                    <a:pt x="7440" y="2558"/>
                  </a:cubicBezTo>
                  <a:lnTo>
                    <a:pt x="7440" y="10928"/>
                  </a:lnTo>
                  <a:cubicBezTo>
                    <a:pt x="7440" y="11059"/>
                    <a:pt x="7335" y="11161"/>
                    <a:pt x="7208" y="11161"/>
                  </a:cubicBezTo>
                  <a:lnTo>
                    <a:pt x="698" y="11161"/>
                  </a:lnTo>
                  <a:cubicBezTo>
                    <a:pt x="567" y="11161"/>
                    <a:pt x="465" y="11059"/>
                    <a:pt x="465" y="10928"/>
                  </a:cubicBezTo>
                  <a:lnTo>
                    <a:pt x="465" y="2558"/>
                  </a:lnTo>
                  <a:cubicBezTo>
                    <a:pt x="465" y="2431"/>
                    <a:pt x="567" y="2326"/>
                    <a:pt x="698" y="2326"/>
                  </a:cubicBezTo>
                  <a:lnTo>
                    <a:pt x="2558" y="2326"/>
                  </a:lnTo>
                  <a:lnTo>
                    <a:pt x="2558" y="3488"/>
                  </a:lnTo>
                  <a:cubicBezTo>
                    <a:pt x="2558" y="3873"/>
                    <a:pt x="2868" y="4186"/>
                    <a:pt x="3255" y="4186"/>
                  </a:cubicBezTo>
                  <a:lnTo>
                    <a:pt x="4650" y="4186"/>
                  </a:lnTo>
                  <a:cubicBezTo>
                    <a:pt x="5035" y="4186"/>
                    <a:pt x="5348" y="3873"/>
                    <a:pt x="5348" y="3488"/>
                  </a:cubicBezTo>
                  <a:lnTo>
                    <a:pt x="5348" y="2326"/>
                  </a:lnTo>
                  <a:close/>
                  <a:moveTo>
                    <a:pt x="3255" y="1"/>
                  </a:moveTo>
                  <a:cubicBezTo>
                    <a:pt x="2868" y="1"/>
                    <a:pt x="2558" y="314"/>
                    <a:pt x="2558" y="698"/>
                  </a:cubicBezTo>
                  <a:lnTo>
                    <a:pt x="2558" y="1861"/>
                  </a:lnTo>
                  <a:lnTo>
                    <a:pt x="698" y="1861"/>
                  </a:lnTo>
                  <a:cubicBezTo>
                    <a:pt x="310" y="1861"/>
                    <a:pt x="0" y="2174"/>
                    <a:pt x="0" y="2558"/>
                  </a:cubicBezTo>
                  <a:lnTo>
                    <a:pt x="0" y="10928"/>
                  </a:lnTo>
                  <a:cubicBezTo>
                    <a:pt x="0" y="11313"/>
                    <a:pt x="310" y="11626"/>
                    <a:pt x="698" y="11626"/>
                  </a:cubicBezTo>
                  <a:lnTo>
                    <a:pt x="7208" y="11626"/>
                  </a:lnTo>
                  <a:cubicBezTo>
                    <a:pt x="7592" y="11626"/>
                    <a:pt x="7905" y="11313"/>
                    <a:pt x="7905" y="10928"/>
                  </a:cubicBezTo>
                  <a:lnTo>
                    <a:pt x="7905" y="2558"/>
                  </a:lnTo>
                  <a:cubicBezTo>
                    <a:pt x="7905" y="2174"/>
                    <a:pt x="7592" y="1861"/>
                    <a:pt x="7208" y="1861"/>
                  </a:cubicBezTo>
                  <a:lnTo>
                    <a:pt x="5348" y="1861"/>
                  </a:lnTo>
                  <a:lnTo>
                    <a:pt x="5348" y="698"/>
                  </a:lnTo>
                  <a:cubicBezTo>
                    <a:pt x="5348" y="314"/>
                    <a:pt x="5035" y="1"/>
                    <a:pt x="46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344" name="Google Shape;344;p40">
              <a:extLst>
                <a:ext uri="{FF2B5EF4-FFF2-40B4-BE49-F238E27FC236}">
                  <a16:creationId xmlns:a16="http://schemas.microsoft.com/office/drawing/2014/main" id="{DC40AF68-4D59-7980-BD40-A350EB300BAE}"/>
                </a:ext>
              </a:extLst>
            </p:cNvPr>
            <p:cNvSpPr/>
            <p:nvPr/>
          </p:nvSpPr>
          <p:spPr>
            <a:xfrm>
              <a:off x="7009550" y="2849550"/>
              <a:ext cx="60400" cy="58175"/>
            </a:xfrm>
            <a:custGeom>
              <a:avLst/>
              <a:gdLst/>
              <a:ahLst/>
              <a:cxnLst/>
              <a:rect l="l" t="t" r="r" b="b"/>
              <a:pathLst>
                <a:path w="2416" h="2327" extrusionOk="0">
                  <a:moveTo>
                    <a:pt x="1163" y="467"/>
                  </a:moveTo>
                  <a:cubicBezTo>
                    <a:pt x="1783" y="467"/>
                    <a:pt x="2093" y="1217"/>
                    <a:pt x="1656" y="1657"/>
                  </a:cubicBezTo>
                  <a:cubicBezTo>
                    <a:pt x="1513" y="1800"/>
                    <a:pt x="1338" y="1864"/>
                    <a:pt x="1166" y="1864"/>
                  </a:cubicBezTo>
                  <a:cubicBezTo>
                    <a:pt x="808" y="1864"/>
                    <a:pt x="465" y="1586"/>
                    <a:pt x="465" y="1164"/>
                  </a:cubicBezTo>
                  <a:cubicBezTo>
                    <a:pt x="465" y="780"/>
                    <a:pt x="775" y="467"/>
                    <a:pt x="1163" y="467"/>
                  </a:cubicBezTo>
                  <a:close/>
                  <a:moveTo>
                    <a:pt x="1171" y="0"/>
                  </a:moveTo>
                  <a:cubicBezTo>
                    <a:pt x="574" y="0"/>
                    <a:pt x="0" y="464"/>
                    <a:pt x="0" y="1164"/>
                  </a:cubicBezTo>
                  <a:cubicBezTo>
                    <a:pt x="0" y="1806"/>
                    <a:pt x="521" y="2327"/>
                    <a:pt x="1163" y="2327"/>
                  </a:cubicBezTo>
                  <a:cubicBezTo>
                    <a:pt x="1631" y="2327"/>
                    <a:pt x="2056" y="2045"/>
                    <a:pt x="2235" y="1611"/>
                  </a:cubicBezTo>
                  <a:cubicBezTo>
                    <a:pt x="2415" y="1177"/>
                    <a:pt x="2316" y="675"/>
                    <a:pt x="1984" y="343"/>
                  </a:cubicBezTo>
                  <a:cubicBezTo>
                    <a:pt x="1748" y="106"/>
                    <a:pt x="1457" y="0"/>
                    <a:pt x="11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345" name="Google Shape;345;p40">
              <a:extLst>
                <a:ext uri="{FF2B5EF4-FFF2-40B4-BE49-F238E27FC236}">
                  <a16:creationId xmlns:a16="http://schemas.microsoft.com/office/drawing/2014/main" id="{7F723381-294A-9EC0-D295-25B8B887B381}"/>
                </a:ext>
              </a:extLst>
            </p:cNvPr>
            <p:cNvSpPr/>
            <p:nvPr/>
          </p:nvSpPr>
          <p:spPr>
            <a:xfrm>
              <a:off x="6986300" y="2919325"/>
              <a:ext cx="104650" cy="34900"/>
            </a:xfrm>
            <a:custGeom>
              <a:avLst/>
              <a:gdLst/>
              <a:ahLst/>
              <a:cxnLst/>
              <a:rect l="l" t="t" r="r" b="b"/>
              <a:pathLst>
                <a:path w="4186" h="1396" extrusionOk="0">
                  <a:moveTo>
                    <a:pt x="3488" y="466"/>
                  </a:moveTo>
                  <a:cubicBezTo>
                    <a:pt x="3615" y="466"/>
                    <a:pt x="3720" y="571"/>
                    <a:pt x="3720" y="698"/>
                  </a:cubicBezTo>
                  <a:cubicBezTo>
                    <a:pt x="3720" y="829"/>
                    <a:pt x="3615" y="931"/>
                    <a:pt x="3488" y="931"/>
                  </a:cubicBezTo>
                  <a:lnTo>
                    <a:pt x="698" y="931"/>
                  </a:lnTo>
                  <a:cubicBezTo>
                    <a:pt x="568" y="931"/>
                    <a:pt x="465" y="829"/>
                    <a:pt x="465" y="698"/>
                  </a:cubicBezTo>
                  <a:cubicBezTo>
                    <a:pt x="465" y="571"/>
                    <a:pt x="568" y="466"/>
                    <a:pt x="698" y="466"/>
                  </a:cubicBezTo>
                  <a:close/>
                  <a:moveTo>
                    <a:pt x="698" y="1"/>
                  </a:moveTo>
                  <a:cubicBezTo>
                    <a:pt x="310" y="1"/>
                    <a:pt x="0" y="314"/>
                    <a:pt x="0" y="698"/>
                  </a:cubicBezTo>
                  <a:cubicBezTo>
                    <a:pt x="0" y="1083"/>
                    <a:pt x="310" y="1396"/>
                    <a:pt x="698" y="1396"/>
                  </a:cubicBezTo>
                  <a:lnTo>
                    <a:pt x="3488" y="1396"/>
                  </a:lnTo>
                  <a:cubicBezTo>
                    <a:pt x="3872" y="1396"/>
                    <a:pt x="4185" y="1083"/>
                    <a:pt x="4185" y="698"/>
                  </a:cubicBezTo>
                  <a:cubicBezTo>
                    <a:pt x="4185" y="314"/>
                    <a:pt x="3872" y="1"/>
                    <a:pt x="34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grpSp>
      <p:sp>
        <p:nvSpPr>
          <p:cNvPr id="347" name="Google Shape;347;p40">
            <a:extLst>
              <a:ext uri="{FF2B5EF4-FFF2-40B4-BE49-F238E27FC236}">
                <a16:creationId xmlns:a16="http://schemas.microsoft.com/office/drawing/2014/main" id="{937BCA33-D993-A509-2141-7CF3B3A77F54}"/>
              </a:ext>
            </a:extLst>
          </p:cNvPr>
          <p:cNvSpPr txBox="1">
            <a:spLocks noGrp="1"/>
          </p:cNvSpPr>
          <p:nvPr>
            <p:ph type="subTitle" idx="2"/>
          </p:nvPr>
        </p:nvSpPr>
        <p:spPr>
          <a:xfrm>
            <a:off x="170425" y="1267479"/>
            <a:ext cx="4321817" cy="3868941"/>
          </a:xfrm>
          <a:prstGeom prst="rect">
            <a:avLst/>
          </a:prstGeom>
        </p:spPr>
        <p:txBody>
          <a:bodyPr spcFirstLastPara="1" wrap="square" lIns="91425" tIns="91425" rIns="91425" bIns="91425" anchor="ctr" anchorCtr="0">
            <a:noAutofit/>
          </a:bodyPr>
          <a:lstStyle/>
          <a:p>
            <a:pPr marL="127000" indent="0">
              <a:spcAft>
                <a:spcPts val="1200"/>
              </a:spcAft>
              <a:buNone/>
            </a:pPr>
            <a:r>
              <a:rPr lang="en-US" dirty="0">
                <a:solidFill>
                  <a:schemeClr val="bg1"/>
                </a:solidFill>
              </a:rPr>
              <a:t>This circuit contains a 555 timer with a 5V supply and a current sense resistor R1 (which was chosen to be 1 Ohm). A LED is driven by the output of the 555 timer with a current limiting 100 Ohm resistor. </a:t>
            </a:r>
          </a:p>
          <a:p>
            <a:pPr marL="127000" indent="0">
              <a:spcAft>
                <a:spcPts val="1200"/>
              </a:spcAft>
              <a:buNone/>
            </a:pPr>
            <a:r>
              <a:rPr lang="en-US" sz="1400" dirty="0">
                <a:solidFill>
                  <a:schemeClr val="bg1"/>
                </a:solidFill>
              </a:rPr>
              <a:t>VCC has a 10uF decoupling capacitor attached. The 555 timer is designed to operate with a 50% duty cycle and about a 500Hz frequency with a 1k Ohm resistor and a 1uF capacitor. </a:t>
            </a:r>
          </a:p>
          <a:p>
            <a:pPr marL="127000" indent="0">
              <a:spcAft>
                <a:spcPts val="1200"/>
              </a:spcAft>
              <a:buNone/>
            </a:pPr>
            <a:r>
              <a:rPr lang="en-US" sz="1400" dirty="0">
                <a:solidFill>
                  <a:schemeClr val="bg1"/>
                </a:solidFill>
              </a:rPr>
              <a:t>The current sense resistor should not affect the performance of the circuit, and 1 Ohm should accomplish this. </a:t>
            </a:r>
          </a:p>
        </p:txBody>
      </p:sp>
      <p:pic>
        <p:nvPicPr>
          <p:cNvPr id="16" name="Picture 15">
            <a:extLst>
              <a:ext uri="{FF2B5EF4-FFF2-40B4-BE49-F238E27FC236}">
                <a16:creationId xmlns:a16="http://schemas.microsoft.com/office/drawing/2014/main" id="{DF96A788-4111-C1FF-BC50-5F25A7415DD4}"/>
              </a:ext>
            </a:extLst>
          </p:cNvPr>
          <p:cNvPicPr>
            <a:picLocks noChangeAspect="1"/>
          </p:cNvPicPr>
          <p:nvPr/>
        </p:nvPicPr>
        <p:blipFill>
          <a:blip r:embed="rId3"/>
          <a:stretch>
            <a:fillRect/>
          </a:stretch>
        </p:blipFill>
        <p:spPr>
          <a:xfrm>
            <a:off x="5025483" y="4350493"/>
            <a:ext cx="3082194" cy="743417"/>
          </a:xfrm>
          <a:prstGeom prst="rect">
            <a:avLst/>
          </a:prstGeom>
        </p:spPr>
      </p:pic>
      <p:sp>
        <p:nvSpPr>
          <p:cNvPr id="9" name="Google Shape;347;p40">
            <a:extLst>
              <a:ext uri="{FF2B5EF4-FFF2-40B4-BE49-F238E27FC236}">
                <a16:creationId xmlns:a16="http://schemas.microsoft.com/office/drawing/2014/main" id="{BF589F03-9807-CA83-6703-3627DD3DC9E9}"/>
              </a:ext>
            </a:extLst>
          </p:cNvPr>
          <p:cNvSpPr txBox="1">
            <a:spLocks/>
          </p:cNvSpPr>
          <p:nvPr/>
        </p:nvSpPr>
        <p:spPr>
          <a:xfrm>
            <a:off x="6391731" y="2794918"/>
            <a:ext cx="2752269" cy="194638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30200" algn="l" rtl="0" eaLnBrk="1" hangingPunct="1">
              <a:lnSpc>
                <a:spcPct val="100000"/>
              </a:lnSpc>
              <a:spcBef>
                <a:spcPts val="0"/>
              </a:spcBef>
              <a:spcAft>
                <a:spcPts val="0"/>
              </a:spcAft>
              <a:buClr>
                <a:schemeClr val="accent4"/>
              </a:buClr>
              <a:buSzPts val="1400"/>
              <a:buFont typeface="Roboto"/>
              <a:buChar char="●"/>
              <a:defRPr sz="1600" b="0" i="0" u="none" strike="noStrike" cap="none">
                <a:solidFill>
                  <a:schemeClr val="lt1"/>
                </a:solidFill>
                <a:latin typeface="Roboto"/>
                <a:ea typeface="Roboto"/>
                <a:cs typeface="Roboto"/>
                <a:sym typeface="Roboto"/>
              </a:defRPr>
            </a:lvl1pPr>
            <a:lvl2pPr marL="914400" marR="0" lvl="1" indent="-330200" algn="l" rtl="0" eaLnBrk="1" hangingPunct="1">
              <a:lnSpc>
                <a:spcPct val="100000"/>
              </a:lnSpc>
              <a:spcBef>
                <a:spcPts val="0"/>
              </a:spcBef>
              <a:spcAft>
                <a:spcPts val="0"/>
              </a:spcAft>
              <a:buClr>
                <a:schemeClr val="lt1"/>
              </a:buClr>
              <a:buSzPts val="1600"/>
              <a:buFont typeface="Roboto"/>
              <a:buChar char="○"/>
              <a:defRPr sz="1600" b="0" i="0" u="none" strike="noStrike" cap="none">
                <a:solidFill>
                  <a:schemeClr val="lt1"/>
                </a:solidFill>
                <a:latin typeface="Roboto"/>
                <a:ea typeface="Roboto"/>
                <a:cs typeface="Roboto"/>
                <a:sym typeface="Roboto"/>
              </a:defRPr>
            </a:lvl2pPr>
            <a:lvl3pPr marL="1371600" marR="0" lvl="2" indent="-330200" algn="l" rtl="0" eaLnBrk="1" hangingPunct="1">
              <a:lnSpc>
                <a:spcPct val="100000"/>
              </a:lnSpc>
              <a:spcBef>
                <a:spcPts val="0"/>
              </a:spcBef>
              <a:spcAft>
                <a:spcPts val="0"/>
              </a:spcAft>
              <a:buClr>
                <a:schemeClr val="lt1"/>
              </a:buClr>
              <a:buSzPts val="1600"/>
              <a:buFont typeface="Roboto"/>
              <a:buChar char="■"/>
              <a:defRPr sz="1600" b="0" i="0" u="none" strike="noStrike" cap="none">
                <a:solidFill>
                  <a:schemeClr val="lt1"/>
                </a:solidFill>
                <a:latin typeface="Roboto"/>
                <a:ea typeface="Roboto"/>
                <a:cs typeface="Roboto"/>
                <a:sym typeface="Roboto"/>
              </a:defRPr>
            </a:lvl3pPr>
            <a:lvl4pPr marL="1828800" marR="0" lvl="3" indent="-330200" algn="l" rtl="0" eaLnBrk="1" hangingPunct="1">
              <a:lnSpc>
                <a:spcPct val="100000"/>
              </a:lnSpc>
              <a:spcBef>
                <a:spcPts val="0"/>
              </a:spcBef>
              <a:spcAft>
                <a:spcPts val="0"/>
              </a:spcAft>
              <a:buClr>
                <a:schemeClr val="lt1"/>
              </a:buClr>
              <a:buSzPts val="1600"/>
              <a:buFont typeface="Roboto"/>
              <a:buChar char="●"/>
              <a:defRPr sz="1600" b="0" i="0" u="none" strike="noStrike" cap="none">
                <a:solidFill>
                  <a:schemeClr val="lt1"/>
                </a:solidFill>
                <a:latin typeface="Roboto"/>
                <a:ea typeface="Roboto"/>
                <a:cs typeface="Roboto"/>
                <a:sym typeface="Roboto"/>
              </a:defRPr>
            </a:lvl4pPr>
            <a:lvl5pPr marL="2286000" marR="0" lvl="4" indent="-330200" algn="l" rtl="0" eaLnBrk="1" hangingPunct="1">
              <a:lnSpc>
                <a:spcPct val="100000"/>
              </a:lnSpc>
              <a:spcBef>
                <a:spcPts val="0"/>
              </a:spcBef>
              <a:spcAft>
                <a:spcPts val="0"/>
              </a:spcAft>
              <a:buClr>
                <a:schemeClr val="lt1"/>
              </a:buClr>
              <a:buSzPts val="1600"/>
              <a:buFont typeface="Roboto"/>
              <a:buChar char="○"/>
              <a:defRPr sz="1600" b="0" i="0" u="none" strike="noStrike" cap="none">
                <a:solidFill>
                  <a:schemeClr val="lt1"/>
                </a:solidFill>
                <a:latin typeface="Roboto"/>
                <a:ea typeface="Roboto"/>
                <a:cs typeface="Roboto"/>
                <a:sym typeface="Roboto"/>
              </a:defRPr>
            </a:lvl5pPr>
            <a:lvl6pPr marL="2743200" marR="0" lvl="5" indent="-330200" algn="l" rtl="0" eaLnBrk="1" hangingPunct="1">
              <a:lnSpc>
                <a:spcPct val="100000"/>
              </a:lnSpc>
              <a:spcBef>
                <a:spcPts val="0"/>
              </a:spcBef>
              <a:spcAft>
                <a:spcPts val="0"/>
              </a:spcAft>
              <a:buClr>
                <a:schemeClr val="lt1"/>
              </a:buClr>
              <a:buSzPts val="1600"/>
              <a:buFont typeface="Roboto"/>
              <a:buChar char="■"/>
              <a:defRPr sz="1600" b="0" i="0" u="none" strike="noStrike" cap="none">
                <a:solidFill>
                  <a:schemeClr val="lt1"/>
                </a:solidFill>
                <a:latin typeface="Roboto"/>
                <a:ea typeface="Roboto"/>
                <a:cs typeface="Roboto"/>
                <a:sym typeface="Roboto"/>
              </a:defRPr>
            </a:lvl6pPr>
            <a:lvl7pPr marL="3200400" marR="0" lvl="6" indent="-330200" algn="l" rtl="0" eaLnBrk="1" hangingPunct="1">
              <a:lnSpc>
                <a:spcPct val="100000"/>
              </a:lnSpc>
              <a:spcBef>
                <a:spcPts val="0"/>
              </a:spcBef>
              <a:spcAft>
                <a:spcPts val="0"/>
              </a:spcAft>
              <a:buClr>
                <a:schemeClr val="lt1"/>
              </a:buClr>
              <a:buSzPts val="1600"/>
              <a:buFont typeface="Roboto"/>
              <a:buChar char="●"/>
              <a:defRPr sz="1600" b="0" i="0" u="none" strike="noStrike" cap="none">
                <a:solidFill>
                  <a:schemeClr val="lt1"/>
                </a:solidFill>
                <a:latin typeface="Roboto"/>
                <a:ea typeface="Roboto"/>
                <a:cs typeface="Roboto"/>
                <a:sym typeface="Roboto"/>
              </a:defRPr>
            </a:lvl7pPr>
            <a:lvl8pPr marL="3657600" marR="0" lvl="7" indent="-330200" algn="l" rtl="0" eaLnBrk="1" hangingPunct="1">
              <a:lnSpc>
                <a:spcPct val="100000"/>
              </a:lnSpc>
              <a:spcBef>
                <a:spcPts val="0"/>
              </a:spcBef>
              <a:spcAft>
                <a:spcPts val="0"/>
              </a:spcAft>
              <a:buClr>
                <a:schemeClr val="lt1"/>
              </a:buClr>
              <a:buSzPts val="1600"/>
              <a:buFont typeface="Roboto"/>
              <a:buChar char="○"/>
              <a:defRPr sz="1600" b="0" i="0" u="none" strike="noStrike" cap="none">
                <a:solidFill>
                  <a:schemeClr val="lt1"/>
                </a:solidFill>
                <a:latin typeface="Roboto"/>
                <a:ea typeface="Roboto"/>
                <a:cs typeface="Roboto"/>
                <a:sym typeface="Roboto"/>
              </a:defRPr>
            </a:lvl8pPr>
            <a:lvl9pPr marL="4114800" marR="0" lvl="8" indent="-330200" algn="l" rtl="0" eaLnBrk="1" hangingPunct="1">
              <a:lnSpc>
                <a:spcPct val="100000"/>
              </a:lnSpc>
              <a:spcBef>
                <a:spcPts val="0"/>
              </a:spcBef>
              <a:spcAft>
                <a:spcPts val="0"/>
              </a:spcAft>
              <a:buClr>
                <a:schemeClr val="lt1"/>
              </a:buClr>
              <a:buSzPts val="1600"/>
              <a:buFont typeface="Roboto"/>
              <a:buChar char="■"/>
              <a:defRPr sz="1600" b="0" i="0" u="none" strike="noStrike" cap="none">
                <a:solidFill>
                  <a:schemeClr val="lt1"/>
                </a:solidFill>
                <a:latin typeface="Roboto"/>
                <a:ea typeface="Roboto"/>
                <a:cs typeface="Roboto"/>
                <a:sym typeface="Roboto"/>
              </a:defRPr>
            </a:lvl9pPr>
          </a:lstStyle>
          <a:p>
            <a:pPr marL="127000" indent="0">
              <a:spcAft>
                <a:spcPts val="1200"/>
              </a:spcAft>
              <a:buFont typeface="Roboto"/>
              <a:buNone/>
            </a:pPr>
            <a:endParaRPr lang="en-US" sz="1400" dirty="0">
              <a:solidFill>
                <a:schemeClr val="bg1"/>
              </a:solidFill>
            </a:endParaRPr>
          </a:p>
        </p:txBody>
      </p:sp>
      <p:pic>
        <p:nvPicPr>
          <p:cNvPr id="3" name="Picture 2">
            <a:extLst>
              <a:ext uri="{FF2B5EF4-FFF2-40B4-BE49-F238E27FC236}">
                <a16:creationId xmlns:a16="http://schemas.microsoft.com/office/drawing/2014/main" id="{57614DA6-F56D-7523-0315-25649965B583}"/>
              </a:ext>
            </a:extLst>
          </p:cNvPr>
          <p:cNvPicPr>
            <a:picLocks noChangeAspect="1"/>
          </p:cNvPicPr>
          <p:nvPr/>
        </p:nvPicPr>
        <p:blipFill>
          <a:blip r:embed="rId4"/>
          <a:stretch>
            <a:fillRect/>
          </a:stretch>
        </p:blipFill>
        <p:spPr>
          <a:xfrm>
            <a:off x="4492242" y="638541"/>
            <a:ext cx="4663774" cy="2541159"/>
          </a:xfrm>
          <a:prstGeom prst="rect">
            <a:avLst/>
          </a:prstGeom>
        </p:spPr>
      </p:pic>
    </p:spTree>
    <p:extLst>
      <p:ext uri="{BB962C8B-B14F-4D97-AF65-F5344CB8AC3E}">
        <p14:creationId xmlns:p14="http://schemas.microsoft.com/office/powerpoint/2010/main" val="1497586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38">
          <a:extLst>
            <a:ext uri="{FF2B5EF4-FFF2-40B4-BE49-F238E27FC236}">
              <a16:creationId xmlns:a16="http://schemas.microsoft.com/office/drawing/2014/main" id="{E439C9C6-FC69-3190-5630-5700B20A9F26}"/>
            </a:ext>
          </a:extLst>
        </p:cNvPr>
        <p:cNvGrpSpPr/>
        <p:nvPr/>
      </p:nvGrpSpPr>
      <p:grpSpPr>
        <a:xfrm>
          <a:off x="0" y="0"/>
          <a:ext cx="0" cy="0"/>
          <a:chOff x="0" y="0"/>
          <a:chExt cx="0" cy="0"/>
        </a:xfrm>
      </p:grpSpPr>
      <p:sp>
        <p:nvSpPr>
          <p:cNvPr id="339" name="Google Shape;339;p40">
            <a:extLst>
              <a:ext uri="{FF2B5EF4-FFF2-40B4-BE49-F238E27FC236}">
                <a16:creationId xmlns:a16="http://schemas.microsoft.com/office/drawing/2014/main" id="{1FFC271A-97E1-D0F6-95CF-AB999A9DCEA9}"/>
              </a:ext>
            </a:extLst>
          </p:cNvPr>
          <p:cNvSpPr txBox="1">
            <a:spLocks noGrp="1"/>
          </p:cNvSpPr>
          <p:nvPr>
            <p:ph type="title"/>
          </p:nvPr>
        </p:nvSpPr>
        <p:spPr>
          <a:xfrm>
            <a:off x="1440597" y="817383"/>
            <a:ext cx="6103290" cy="501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b="1" dirty="0">
                <a:latin typeface="Roboto" panose="02000000000000000000" pitchFamily="2" charset="0"/>
                <a:ea typeface="Roboto" panose="02000000000000000000" pitchFamily="2" charset="0"/>
                <a:cs typeface="Roboto" panose="02000000000000000000" pitchFamily="2" charset="0"/>
              </a:rPr>
              <a:t>What is Inrush Current?</a:t>
            </a:r>
          </a:p>
        </p:txBody>
      </p:sp>
      <p:cxnSp>
        <p:nvCxnSpPr>
          <p:cNvPr id="340" name="Google Shape;340;p40">
            <a:extLst>
              <a:ext uri="{FF2B5EF4-FFF2-40B4-BE49-F238E27FC236}">
                <a16:creationId xmlns:a16="http://schemas.microsoft.com/office/drawing/2014/main" id="{E46CAFC0-3C09-0005-1D09-3DE506367F93}"/>
              </a:ext>
            </a:extLst>
          </p:cNvPr>
          <p:cNvCxnSpPr/>
          <p:nvPr/>
        </p:nvCxnSpPr>
        <p:spPr>
          <a:xfrm>
            <a:off x="1493372" y="1474799"/>
            <a:ext cx="3933000" cy="0"/>
          </a:xfrm>
          <a:prstGeom prst="straightConnector1">
            <a:avLst/>
          </a:prstGeom>
          <a:noFill/>
          <a:ln w="19050" cap="flat" cmpd="sng">
            <a:solidFill>
              <a:schemeClr val="accent4"/>
            </a:solidFill>
            <a:prstDash val="solid"/>
            <a:round/>
            <a:headEnd type="none" w="med" len="med"/>
            <a:tailEnd type="none" w="med" len="med"/>
          </a:ln>
        </p:spPr>
      </p:cxnSp>
      <p:grpSp>
        <p:nvGrpSpPr>
          <p:cNvPr id="342" name="Google Shape;342;p40">
            <a:extLst>
              <a:ext uri="{FF2B5EF4-FFF2-40B4-BE49-F238E27FC236}">
                <a16:creationId xmlns:a16="http://schemas.microsoft.com/office/drawing/2014/main" id="{EBC5C901-9BC2-DF3D-D53C-A8E2D13F2C5D}"/>
              </a:ext>
            </a:extLst>
          </p:cNvPr>
          <p:cNvGrpSpPr/>
          <p:nvPr/>
        </p:nvGrpSpPr>
        <p:grpSpPr>
          <a:xfrm>
            <a:off x="1099493" y="1824203"/>
            <a:ext cx="341104" cy="501604"/>
            <a:chOff x="6939800" y="2710075"/>
            <a:chExt cx="197650" cy="290650"/>
          </a:xfrm>
        </p:grpSpPr>
        <p:sp>
          <p:nvSpPr>
            <p:cNvPr id="343" name="Google Shape;343;p40">
              <a:extLst>
                <a:ext uri="{FF2B5EF4-FFF2-40B4-BE49-F238E27FC236}">
                  <a16:creationId xmlns:a16="http://schemas.microsoft.com/office/drawing/2014/main" id="{D30BB06A-0AE6-127C-7435-A08E30214102}"/>
                </a:ext>
              </a:extLst>
            </p:cNvPr>
            <p:cNvSpPr/>
            <p:nvPr/>
          </p:nvSpPr>
          <p:spPr>
            <a:xfrm>
              <a:off x="6939800" y="2710075"/>
              <a:ext cx="197650" cy="290650"/>
            </a:xfrm>
            <a:custGeom>
              <a:avLst/>
              <a:gdLst/>
              <a:ahLst/>
              <a:cxnLst/>
              <a:rect l="l" t="t" r="r" b="b"/>
              <a:pathLst>
                <a:path w="7906" h="11626" extrusionOk="0">
                  <a:moveTo>
                    <a:pt x="4650" y="466"/>
                  </a:moveTo>
                  <a:cubicBezTo>
                    <a:pt x="4777" y="466"/>
                    <a:pt x="4883" y="571"/>
                    <a:pt x="4883" y="698"/>
                  </a:cubicBezTo>
                  <a:lnTo>
                    <a:pt x="4883" y="3488"/>
                  </a:lnTo>
                  <a:cubicBezTo>
                    <a:pt x="4883" y="3618"/>
                    <a:pt x="4777" y="3721"/>
                    <a:pt x="4650" y="3721"/>
                  </a:cubicBezTo>
                  <a:lnTo>
                    <a:pt x="3255" y="3721"/>
                  </a:lnTo>
                  <a:cubicBezTo>
                    <a:pt x="3125" y="3721"/>
                    <a:pt x="3023" y="3618"/>
                    <a:pt x="3023" y="3488"/>
                  </a:cubicBezTo>
                  <a:lnTo>
                    <a:pt x="3023" y="698"/>
                  </a:lnTo>
                  <a:cubicBezTo>
                    <a:pt x="3023" y="571"/>
                    <a:pt x="3125" y="466"/>
                    <a:pt x="3255" y="466"/>
                  </a:cubicBezTo>
                  <a:close/>
                  <a:moveTo>
                    <a:pt x="7208" y="2326"/>
                  </a:moveTo>
                  <a:cubicBezTo>
                    <a:pt x="7335" y="2326"/>
                    <a:pt x="7440" y="2431"/>
                    <a:pt x="7440" y="2558"/>
                  </a:cubicBezTo>
                  <a:lnTo>
                    <a:pt x="7440" y="10928"/>
                  </a:lnTo>
                  <a:cubicBezTo>
                    <a:pt x="7440" y="11059"/>
                    <a:pt x="7335" y="11161"/>
                    <a:pt x="7208" y="11161"/>
                  </a:cubicBezTo>
                  <a:lnTo>
                    <a:pt x="698" y="11161"/>
                  </a:lnTo>
                  <a:cubicBezTo>
                    <a:pt x="567" y="11161"/>
                    <a:pt x="465" y="11059"/>
                    <a:pt x="465" y="10928"/>
                  </a:cubicBezTo>
                  <a:lnTo>
                    <a:pt x="465" y="2558"/>
                  </a:lnTo>
                  <a:cubicBezTo>
                    <a:pt x="465" y="2431"/>
                    <a:pt x="567" y="2326"/>
                    <a:pt x="698" y="2326"/>
                  </a:cubicBezTo>
                  <a:lnTo>
                    <a:pt x="2558" y="2326"/>
                  </a:lnTo>
                  <a:lnTo>
                    <a:pt x="2558" y="3488"/>
                  </a:lnTo>
                  <a:cubicBezTo>
                    <a:pt x="2558" y="3873"/>
                    <a:pt x="2868" y="4186"/>
                    <a:pt x="3255" y="4186"/>
                  </a:cubicBezTo>
                  <a:lnTo>
                    <a:pt x="4650" y="4186"/>
                  </a:lnTo>
                  <a:cubicBezTo>
                    <a:pt x="5035" y="4186"/>
                    <a:pt x="5348" y="3873"/>
                    <a:pt x="5348" y="3488"/>
                  </a:cubicBezTo>
                  <a:lnTo>
                    <a:pt x="5348" y="2326"/>
                  </a:lnTo>
                  <a:close/>
                  <a:moveTo>
                    <a:pt x="3255" y="1"/>
                  </a:moveTo>
                  <a:cubicBezTo>
                    <a:pt x="2868" y="1"/>
                    <a:pt x="2558" y="314"/>
                    <a:pt x="2558" y="698"/>
                  </a:cubicBezTo>
                  <a:lnTo>
                    <a:pt x="2558" y="1861"/>
                  </a:lnTo>
                  <a:lnTo>
                    <a:pt x="698" y="1861"/>
                  </a:lnTo>
                  <a:cubicBezTo>
                    <a:pt x="310" y="1861"/>
                    <a:pt x="0" y="2174"/>
                    <a:pt x="0" y="2558"/>
                  </a:cubicBezTo>
                  <a:lnTo>
                    <a:pt x="0" y="10928"/>
                  </a:lnTo>
                  <a:cubicBezTo>
                    <a:pt x="0" y="11313"/>
                    <a:pt x="310" y="11626"/>
                    <a:pt x="698" y="11626"/>
                  </a:cubicBezTo>
                  <a:lnTo>
                    <a:pt x="7208" y="11626"/>
                  </a:lnTo>
                  <a:cubicBezTo>
                    <a:pt x="7592" y="11626"/>
                    <a:pt x="7905" y="11313"/>
                    <a:pt x="7905" y="10928"/>
                  </a:cubicBezTo>
                  <a:lnTo>
                    <a:pt x="7905" y="2558"/>
                  </a:lnTo>
                  <a:cubicBezTo>
                    <a:pt x="7905" y="2174"/>
                    <a:pt x="7592" y="1861"/>
                    <a:pt x="7208" y="1861"/>
                  </a:cubicBezTo>
                  <a:lnTo>
                    <a:pt x="5348" y="1861"/>
                  </a:lnTo>
                  <a:lnTo>
                    <a:pt x="5348" y="698"/>
                  </a:lnTo>
                  <a:cubicBezTo>
                    <a:pt x="5348" y="314"/>
                    <a:pt x="5035" y="1"/>
                    <a:pt x="46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344" name="Google Shape;344;p40">
              <a:extLst>
                <a:ext uri="{FF2B5EF4-FFF2-40B4-BE49-F238E27FC236}">
                  <a16:creationId xmlns:a16="http://schemas.microsoft.com/office/drawing/2014/main" id="{A2203EEC-9BE7-87A8-72B5-56DE9A5D3CFE}"/>
                </a:ext>
              </a:extLst>
            </p:cNvPr>
            <p:cNvSpPr/>
            <p:nvPr/>
          </p:nvSpPr>
          <p:spPr>
            <a:xfrm>
              <a:off x="7009550" y="2849550"/>
              <a:ext cx="60400" cy="58175"/>
            </a:xfrm>
            <a:custGeom>
              <a:avLst/>
              <a:gdLst/>
              <a:ahLst/>
              <a:cxnLst/>
              <a:rect l="l" t="t" r="r" b="b"/>
              <a:pathLst>
                <a:path w="2416" h="2327" extrusionOk="0">
                  <a:moveTo>
                    <a:pt x="1163" y="467"/>
                  </a:moveTo>
                  <a:cubicBezTo>
                    <a:pt x="1783" y="467"/>
                    <a:pt x="2093" y="1217"/>
                    <a:pt x="1656" y="1657"/>
                  </a:cubicBezTo>
                  <a:cubicBezTo>
                    <a:pt x="1513" y="1800"/>
                    <a:pt x="1338" y="1864"/>
                    <a:pt x="1166" y="1864"/>
                  </a:cubicBezTo>
                  <a:cubicBezTo>
                    <a:pt x="808" y="1864"/>
                    <a:pt x="465" y="1586"/>
                    <a:pt x="465" y="1164"/>
                  </a:cubicBezTo>
                  <a:cubicBezTo>
                    <a:pt x="465" y="780"/>
                    <a:pt x="775" y="467"/>
                    <a:pt x="1163" y="467"/>
                  </a:cubicBezTo>
                  <a:close/>
                  <a:moveTo>
                    <a:pt x="1171" y="0"/>
                  </a:moveTo>
                  <a:cubicBezTo>
                    <a:pt x="574" y="0"/>
                    <a:pt x="0" y="464"/>
                    <a:pt x="0" y="1164"/>
                  </a:cubicBezTo>
                  <a:cubicBezTo>
                    <a:pt x="0" y="1806"/>
                    <a:pt x="521" y="2327"/>
                    <a:pt x="1163" y="2327"/>
                  </a:cubicBezTo>
                  <a:cubicBezTo>
                    <a:pt x="1631" y="2327"/>
                    <a:pt x="2056" y="2045"/>
                    <a:pt x="2235" y="1611"/>
                  </a:cubicBezTo>
                  <a:cubicBezTo>
                    <a:pt x="2415" y="1177"/>
                    <a:pt x="2316" y="675"/>
                    <a:pt x="1984" y="343"/>
                  </a:cubicBezTo>
                  <a:cubicBezTo>
                    <a:pt x="1748" y="106"/>
                    <a:pt x="1457" y="0"/>
                    <a:pt x="11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345" name="Google Shape;345;p40">
              <a:extLst>
                <a:ext uri="{FF2B5EF4-FFF2-40B4-BE49-F238E27FC236}">
                  <a16:creationId xmlns:a16="http://schemas.microsoft.com/office/drawing/2014/main" id="{AC7BD42D-9E71-593B-27EB-817943CA1DF5}"/>
                </a:ext>
              </a:extLst>
            </p:cNvPr>
            <p:cNvSpPr/>
            <p:nvPr/>
          </p:nvSpPr>
          <p:spPr>
            <a:xfrm>
              <a:off x="6986300" y="2919325"/>
              <a:ext cx="104650" cy="34900"/>
            </a:xfrm>
            <a:custGeom>
              <a:avLst/>
              <a:gdLst/>
              <a:ahLst/>
              <a:cxnLst/>
              <a:rect l="l" t="t" r="r" b="b"/>
              <a:pathLst>
                <a:path w="4186" h="1396" extrusionOk="0">
                  <a:moveTo>
                    <a:pt x="3488" y="466"/>
                  </a:moveTo>
                  <a:cubicBezTo>
                    <a:pt x="3615" y="466"/>
                    <a:pt x="3720" y="571"/>
                    <a:pt x="3720" y="698"/>
                  </a:cubicBezTo>
                  <a:cubicBezTo>
                    <a:pt x="3720" y="829"/>
                    <a:pt x="3615" y="931"/>
                    <a:pt x="3488" y="931"/>
                  </a:cubicBezTo>
                  <a:lnTo>
                    <a:pt x="698" y="931"/>
                  </a:lnTo>
                  <a:cubicBezTo>
                    <a:pt x="568" y="931"/>
                    <a:pt x="465" y="829"/>
                    <a:pt x="465" y="698"/>
                  </a:cubicBezTo>
                  <a:cubicBezTo>
                    <a:pt x="465" y="571"/>
                    <a:pt x="568" y="466"/>
                    <a:pt x="698" y="466"/>
                  </a:cubicBezTo>
                  <a:close/>
                  <a:moveTo>
                    <a:pt x="698" y="1"/>
                  </a:moveTo>
                  <a:cubicBezTo>
                    <a:pt x="310" y="1"/>
                    <a:pt x="0" y="314"/>
                    <a:pt x="0" y="698"/>
                  </a:cubicBezTo>
                  <a:cubicBezTo>
                    <a:pt x="0" y="1083"/>
                    <a:pt x="310" y="1396"/>
                    <a:pt x="698" y="1396"/>
                  </a:cubicBezTo>
                  <a:lnTo>
                    <a:pt x="3488" y="1396"/>
                  </a:lnTo>
                  <a:cubicBezTo>
                    <a:pt x="3872" y="1396"/>
                    <a:pt x="4185" y="1083"/>
                    <a:pt x="4185" y="698"/>
                  </a:cubicBezTo>
                  <a:cubicBezTo>
                    <a:pt x="4185" y="314"/>
                    <a:pt x="3872" y="1"/>
                    <a:pt x="34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grpSp>
      <p:sp>
        <p:nvSpPr>
          <p:cNvPr id="347" name="Google Shape;347;p40">
            <a:extLst>
              <a:ext uri="{FF2B5EF4-FFF2-40B4-BE49-F238E27FC236}">
                <a16:creationId xmlns:a16="http://schemas.microsoft.com/office/drawing/2014/main" id="{8ECEB452-3345-9E89-FC2E-CBECBBE2EBE9}"/>
              </a:ext>
            </a:extLst>
          </p:cNvPr>
          <p:cNvSpPr txBox="1">
            <a:spLocks noGrp="1"/>
          </p:cNvSpPr>
          <p:nvPr>
            <p:ph type="subTitle" idx="2"/>
          </p:nvPr>
        </p:nvSpPr>
        <p:spPr>
          <a:xfrm>
            <a:off x="137757" y="1474799"/>
            <a:ext cx="7102628" cy="3615642"/>
          </a:xfrm>
          <a:prstGeom prst="rect">
            <a:avLst/>
          </a:prstGeom>
        </p:spPr>
        <p:txBody>
          <a:bodyPr spcFirstLastPara="1" wrap="square" lIns="91425" tIns="91425" rIns="91425" bIns="91425" anchor="ctr" anchorCtr="0">
            <a:noAutofit/>
          </a:bodyPr>
          <a:lstStyle/>
          <a:p>
            <a:pPr marL="127000" indent="0" fontAlgn="base">
              <a:spcAft>
                <a:spcPts val="1200"/>
              </a:spcAft>
              <a:buNone/>
            </a:pPr>
            <a:r>
              <a:rPr lang="en-US" dirty="0"/>
              <a:t>The current drawn is dependent on the initial load when the power supply is connected. A large current for the circuit’s capacitors to be charged is drawn. This transient current is called inrush current. This current then settles and a steady current remains. Using the sense resistor, these currents can be measured if it is connected in series with the VRM via differential probing. </a:t>
            </a:r>
          </a:p>
          <a:p>
            <a:pPr marL="127000" indent="0" fontAlgn="base">
              <a:spcAft>
                <a:spcPts val="1200"/>
              </a:spcAft>
              <a:buNone/>
            </a:pPr>
            <a:r>
              <a:rPr lang="en-US" dirty="0"/>
              <a:t>The inrush current can be estimated using approximation related to Thevenin resistance of the VRM. The Thevenin resistance of the Arduino Uno which is used for this experiment is around 2 Ohms. This means the maximum current can be 2.5A. </a:t>
            </a:r>
          </a:p>
        </p:txBody>
      </p:sp>
      <p:pic>
        <p:nvPicPr>
          <p:cNvPr id="16" name="Picture 15">
            <a:extLst>
              <a:ext uri="{FF2B5EF4-FFF2-40B4-BE49-F238E27FC236}">
                <a16:creationId xmlns:a16="http://schemas.microsoft.com/office/drawing/2014/main" id="{C744B792-2B31-6E9D-3CA8-7F549D2F51BD}"/>
              </a:ext>
            </a:extLst>
          </p:cNvPr>
          <p:cNvPicPr>
            <a:picLocks noChangeAspect="1"/>
          </p:cNvPicPr>
          <p:nvPr/>
        </p:nvPicPr>
        <p:blipFill>
          <a:blip r:embed="rId3"/>
          <a:stretch>
            <a:fillRect/>
          </a:stretch>
        </p:blipFill>
        <p:spPr>
          <a:xfrm>
            <a:off x="5051362" y="4326117"/>
            <a:ext cx="3082194" cy="743417"/>
          </a:xfrm>
          <a:prstGeom prst="rect">
            <a:avLst/>
          </a:prstGeom>
        </p:spPr>
      </p:pic>
    </p:spTree>
    <p:extLst>
      <p:ext uri="{BB962C8B-B14F-4D97-AF65-F5344CB8AC3E}">
        <p14:creationId xmlns:p14="http://schemas.microsoft.com/office/powerpoint/2010/main" val="186045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47">
                                            <p:txEl>
                                              <p:pRg st="0" end="0"/>
                                            </p:txEl>
                                          </p:spTgt>
                                        </p:tgtEl>
                                        <p:attrNameLst>
                                          <p:attrName>style.visibility</p:attrName>
                                        </p:attrNameLst>
                                      </p:cBhvr>
                                      <p:to>
                                        <p:strVal val="visible"/>
                                      </p:to>
                                    </p:set>
                                    <p:anim calcmode="lin" valueType="num">
                                      <p:cBhvr additive="base">
                                        <p:cTn id="7" dur="500" fill="hold"/>
                                        <p:tgtEl>
                                          <p:spTgt spid="3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47">
                                            <p:txEl>
                                              <p:pRg st="1" end="1"/>
                                            </p:txEl>
                                          </p:spTgt>
                                        </p:tgtEl>
                                        <p:attrNameLst>
                                          <p:attrName>style.visibility</p:attrName>
                                        </p:attrNameLst>
                                      </p:cBhvr>
                                      <p:to>
                                        <p:strVal val="visible"/>
                                      </p:to>
                                    </p:set>
                                    <p:anim calcmode="lin" valueType="num">
                                      <p:cBhvr additive="base">
                                        <p:cTn id="11" dur="500" fill="hold"/>
                                        <p:tgtEl>
                                          <p:spTgt spid="34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4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38">
          <a:extLst>
            <a:ext uri="{FF2B5EF4-FFF2-40B4-BE49-F238E27FC236}">
              <a16:creationId xmlns:a16="http://schemas.microsoft.com/office/drawing/2014/main" id="{32D5CD46-0C94-8C21-6423-A60FD52E295D}"/>
            </a:ext>
          </a:extLst>
        </p:cNvPr>
        <p:cNvGrpSpPr/>
        <p:nvPr/>
      </p:nvGrpSpPr>
      <p:grpSpPr>
        <a:xfrm>
          <a:off x="0" y="0"/>
          <a:ext cx="0" cy="0"/>
          <a:chOff x="0" y="0"/>
          <a:chExt cx="0" cy="0"/>
        </a:xfrm>
      </p:grpSpPr>
      <p:sp>
        <p:nvSpPr>
          <p:cNvPr id="339" name="Google Shape;339;p40">
            <a:extLst>
              <a:ext uri="{FF2B5EF4-FFF2-40B4-BE49-F238E27FC236}">
                <a16:creationId xmlns:a16="http://schemas.microsoft.com/office/drawing/2014/main" id="{8CFB616D-D551-F2A5-DFDB-D980ECC6BFB5}"/>
              </a:ext>
            </a:extLst>
          </p:cNvPr>
          <p:cNvSpPr txBox="1">
            <a:spLocks noGrp="1"/>
          </p:cNvSpPr>
          <p:nvPr>
            <p:ph type="title"/>
          </p:nvPr>
        </p:nvSpPr>
        <p:spPr>
          <a:xfrm>
            <a:off x="1440597" y="817383"/>
            <a:ext cx="6103290" cy="501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600" b="1" dirty="0">
                <a:latin typeface="Roboto" panose="02000000000000000000" pitchFamily="2" charset="0"/>
                <a:ea typeface="Roboto" panose="02000000000000000000" pitchFamily="2" charset="0"/>
                <a:cs typeface="Roboto" panose="02000000000000000000" pitchFamily="2" charset="0"/>
              </a:rPr>
              <a:t>Steady State Current</a:t>
            </a:r>
            <a:endParaRPr lang="en-US" b="1" dirty="0">
              <a:latin typeface="Roboto" panose="02000000000000000000" pitchFamily="2" charset="0"/>
              <a:ea typeface="Roboto" panose="02000000000000000000" pitchFamily="2" charset="0"/>
              <a:cs typeface="Roboto" panose="02000000000000000000" pitchFamily="2" charset="0"/>
            </a:endParaRPr>
          </a:p>
        </p:txBody>
      </p:sp>
      <p:cxnSp>
        <p:nvCxnSpPr>
          <p:cNvPr id="340" name="Google Shape;340;p40">
            <a:extLst>
              <a:ext uri="{FF2B5EF4-FFF2-40B4-BE49-F238E27FC236}">
                <a16:creationId xmlns:a16="http://schemas.microsoft.com/office/drawing/2014/main" id="{3B58FFFB-A2C0-D6E1-EF6D-3FD8375829DB}"/>
              </a:ext>
            </a:extLst>
          </p:cNvPr>
          <p:cNvCxnSpPr/>
          <p:nvPr/>
        </p:nvCxnSpPr>
        <p:spPr>
          <a:xfrm>
            <a:off x="1493372" y="1474799"/>
            <a:ext cx="3933000" cy="0"/>
          </a:xfrm>
          <a:prstGeom prst="straightConnector1">
            <a:avLst/>
          </a:prstGeom>
          <a:noFill/>
          <a:ln w="19050" cap="flat" cmpd="sng">
            <a:solidFill>
              <a:schemeClr val="accent4"/>
            </a:solidFill>
            <a:prstDash val="solid"/>
            <a:round/>
            <a:headEnd type="none" w="med" len="med"/>
            <a:tailEnd type="none" w="med" len="med"/>
          </a:ln>
        </p:spPr>
      </p:cxnSp>
      <p:grpSp>
        <p:nvGrpSpPr>
          <p:cNvPr id="342" name="Google Shape;342;p40">
            <a:extLst>
              <a:ext uri="{FF2B5EF4-FFF2-40B4-BE49-F238E27FC236}">
                <a16:creationId xmlns:a16="http://schemas.microsoft.com/office/drawing/2014/main" id="{E01DCC95-01EA-09D6-9AD9-56E6AF20D8A1}"/>
              </a:ext>
            </a:extLst>
          </p:cNvPr>
          <p:cNvGrpSpPr/>
          <p:nvPr/>
        </p:nvGrpSpPr>
        <p:grpSpPr>
          <a:xfrm>
            <a:off x="1099493" y="1824203"/>
            <a:ext cx="341104" cy="501604"/>
            <a:chOff x="6939800" y="2710075"/>
            <a:chExt cx="197650" cy="290650"/>
          </a:xfrm>
        </p:grpSpPr>
        <p:sp>
          <p:nvSpPr>
            <p:cNvPr id="343" name="Google Shape;343;p40">
              <a:extLst>
                <a:ext uri="{FF2B5EF4-FFF2-40B4-BE49-F238E27FC236}">
                  <a16:creationId xmlns:a16="http://schemas.microsoft.com/office/drawing/2014/main" id="{2CED63AF-B6E0-B135-DB36-03A67AC7D508}"/>
                </a:ext>
              </a:extLst>
            </p:cNvPr>
            <p:cNvSpPr/>
            <p:nvPr/>
          </p:nvSpPr>
          <p:spPr>
            <a:xfrm>
              <a:off x="6939800" y="2710075"/>
              <a:ext cx="197650" cy="290650"/>
            </a:xfrm>
            <a:custGeom>
              <a:avLst/>
              <a:gdLst/>
              <a:ahLst/>
              <a:cxnLst/>
              <a:rect l="l" t="t" r="r" b="b"/>
              <a:pathLst>
                <a:path w="7906" h="11626" extrusionOk="0">
                  <a:moveTo>
                    <a:pt x="4650" y="466"/>
                  </a:moveTo>
                  <a:cubicBezTo>
                    <a:pt x="4777" y="466"/>
                    <a:pt x="4883" y="571"/>
                    <a:pt x="4883" y="698"/>
                  </a:cubicBezTo>
                  <a:lnTo>
                    <a:pt x="4883" y="3488"/>
                  </a:lnTo>
                  <a:cubicBezTo>
                    <a:pt x="4883" y="3618"/>
                    <a:pt x="4777" y="3721"/>
                    <a:pt x="4650" y="3721"/>
                  </a:cubicBezTo>
                  <a:lnTo>
                    <a:pt x="3255" y="3721"/>
                  </a:lnTo>
                  <a:cubicBezTo>
                    <a:pt x="3125" y="3721"/>
                    <a:pt x="3023" y="3618"/>
                    <a:pt x="3023" y="3488"/>
                  </a:cubicBezTo>
                  <a:lnTo>
                    <a:pt x="3023" y="698"/>
                  </a:lnTo>
                  <a:cubicBezTo>
                    <a:pt x="3023" y="571"/>
                    <a:pt x="3125" y="466"/>
                    <a:pt x="3255" y="466"/>
                  </a:cubicBezTo>
                  <a:close/>
                  <a:moveTo>
                    <a:pt x="7208" y="2326"/>
                  </a:moveTo>
                  <a:cubicBezTo>
                    <a:pt x="7335" y="2326"/>
                    <a:pt x="7440" y="2431"/>
                    <a:pt x="7440" y="2558"/>
                  </a:cubicBezTo>
                  <a:lnTo>
                    <a:pt x="7440" y="10928"/>
                  </a:lnTo>
                  <a:cubicBezTo>
                    <a:pt x="7440" y="11059"/>
                    <a:pt x="7335" y="11161"/>
                    <a:pt x="7208" y="11161"/>
                  </a:cubicBezTo>
                  <a:lnTo>
                    <a:pt x="698" y="11161"/>
                  </a:lnTo>
                  <a:cubicBezTo>
                    <a:pt x="567" y="11161"/>
                    <a:pt x="465" y="11059"/>
                    <a:pt x="465" y="10928"/>
                  </a:cubicBezTo>
                  <a:lnTo>
                    <a:pt x="465" y="2558"/>
                  </a:lnTo>
                  <a:cubicBezTo>
                    <a:pt x="465" y="2431"/>
                    <a:pt x="567" y="2326"/>
                    <a:pt x="698" y="2326"/>
                  </a:cubicBezTo>
                  <a:lnTo>
                    <a:pt x="2558" y="2326"/>
                  </a:lnTo>
                  <a:lnTo>
                    <a:pt x="2558" y="3488"/>
                  </a:lnTo>
                  <a:cubicBezTo>
                    <a:pt x="2558" y="3873"/>
                    <a:pt x="2868" y="4186"/>
                    <a:pt x="3255" y="4186"/>
                  </a:cubicBezTo>
                  <a:lnTo>
                    <a:pt x="4650" y="4186"/>
                  </a:lnTo>
                  <a:cubicBezTo>
                    <a:pt x="5035" y="4186"/>
                    <a:pt x="5348" y="3873"/>
                    <a:pt x="5348" y="3488"/>
                  </a:cubicBezTo>
                  <a:lnTo>
                    <a:pt x="5348" y="2326"/>
                  </a:lnTo>
                  <a:close/>
                  <a:moveTo>
                    <a:pt x="3255" y="1"/>
                  </a:moveTo>
                  <a:cubicBezTo>
                    <a:pt x="2868" y="1"/>
                    <a:pt x="2558" y="314"/>
                    <a:pt x="2558" y="698"/>
                  </a:cubicBezTo>
                  <a:lnTo>
                    <a:pt x="2558" y="1861"/>
                  </a:lnTo>
                  <a:lnTo>
                    <a:pt x="698" y="1861"/>
                  </a:lnTo>
                  <a:cubicBezTo>
                    <a:pt x="310" y="1861"/>
                    <a:pt x="0" y="2174"/>
                    <a:pt x="0" y="2558"/>
                  </a:cubicBezTo>
                  <a:lnTo>
                    <a:pt x="0" y="10928"/>
                  </a:lnTo>
                  <a:cubicBezTo>
                    <a:pt x="0" y="11313"/>
                    <a:pt x="310" y="11626"/>
                    <a:pt x="698" y="11626"/>
                  </a:cubicBezTo>
                  <a:lnTo>
                    <a:pt x="7208" y="11626"/>
                  </a:lnTo>
                  <a:cubicBezTo>
                    <a:pt x="7592" y="11626"/>
                    <a:pt x="7905" y="11313"/>
                    <a:pt x="7905" y="10928"/>
                  </a:cubicBezTo>
                  <a:lnTo>
                    <a:pt x="7905" y="2558"/>
                  </a:lnTo>
                  <a:cubicBezTo>
                    <a:pt x="7905" y="2174"/>
                    <a:pt x="7592" y="1861"/>
                    <a:pt x="7208" y="1861"/>
                  </a:cubicBezTo>
                  <a:lnTo>
                    <a:pt x="5348" y="1861"/>
                  </a:lnTo>
                  <a:lnTo>
                    <a:pt x="5348" y="698"/>
                  </a:lnTo>
                  <a:cubicBezTo>
                    <a:pt x="5348" y="314"/>
                    <a:pt x="5035" y="1"/>
                    <a:pt x="46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344" name="Google Shape;344;p40">
              <a:extLst>
                <a:ext uri="{FF2B5EF4-FFF2-40B4-BE49-F238E27FC236}">
                  <a16:creationId xmlns:a16="http://schemas.microsoft.com/office/drawing/2014/main" id="{B42FEB99-2E62-CC10-BC9E-7E92CE6F53BD}"/>
                </a:ext>
              </a:extLst>
            </p:cNvPr>
            <p:cNvSpPr/>
            <p:nvPr/>
          </p:nvSpPr>
          <p:spPr>
            <a:xfrm>
              <a:off x="7009550" y="2849550"/>
              <a:ext cx="60400" cy="58175"/>
            </a:xfrm>
            <a:custGeom>
              <a:avLst/>
              <a:gdLst/>
              <a:ahLst/>
              <a:cxnLst/>
              <a:rect l="l" t="t" r="r" b="b"/>
              <a:pathLst>
                <a:path w="2416" h="2327" extrusionOk="0">
                  <a:moveTo>
                    <a:pt x="1163" y="467"/>
                  </a:moveTo>
                  <a:cubicBezTo>
                    <a:pt x="1783" y="467"/>
                    <a:pt x="2093" y="1217"/>
                    <a:pt x="1656" y="1657"/>
                  </a:cubicBezTo>
                  <a:cubicBezTo>
                    <a:pt x="1513" y="1800"/>
                    <a:pt x="1338" y="1864"/>
                    <a:pt x="1166" y="1864"/>
                  </a:cubicBezTo>
                  <a:cubicBezTo>
                    <a:pt x="808" y="1864"/>
                    <a:pt x="465" y="1586"/>
                    <a:pt x="465" y="1164"/>
                  </a:cubicBezTo>
                  <a:cubicBezTo>
                    <a:pt x="465" y="780"/>
                    <a:pt x="775" y="467"/>
                    <a:pt x="1163" y="467"/>
                  </a:cubicBezTo>
                  <a:close/>
                  <a:moveTo>
                    <a:pt x="1171" y="0"/>
                  </a:moveTo>
                  <a:cubicBezTo>
                    <a:pt x="574" y="0"/>
                    <a:pt x="0" y="464"/>
                    <a:pt x="0" y="1164"/>
                  </a:cubicBezTo>
                  <a:cubicBezTo>
                    <a:pt x="0" y="1806"/>
                    <a:pt x="521" y="2327"/>
                    <a:pt x="1163" y="2327"/>
                  </a:cubicBezTo>
                  <a:cubicBezTo>
                    <a:pt x="1631" y="2327"/>
                    <a:pt x="2056" y="2045"/>
                    <a:pt x="2235" y="1611"/>
                  </a:cubicBezTo>
                  <a:cubicBezTo>
                    <a:pt x="2415" y="1177"/>
                    <a:pt x="2316" y="675"/>
                    <a:pt x="1984" y="343"/>
                  </a:cubicBezTo>
                  <a:cubicBezTo>
                    <a:pt x="1748" y="106"/>
                    <a:pt x="1457" y="0"/>
                    <a:pt x="11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345" name="Google Shape;345;p40">
              <a:extLst>
                <a:ext uri="{FF2B5EF4-FFF2-40B4-BE49-F238E27FC236}">
                  <a16:creationId xmlns:a16="http://schemas.microsoft.com/office/drawing/2014/main" id="{9279110C-054E-976D-939D-F15C24A2D421}"/>
                </a:ext>
              </a:extLst>
            </p:cNvPr>
            <p:cNvSpPr/>
            <p:nvPr/>
          </p:nvSpPr>
          <p:spPr>
            <a:xfrm>
              <a:off x="6986300" y="2919325"/>
              <a:ext cx="104650" cy="34900"/>
            </a:xfrm>
            <a:custGeom>
              <a:avLst/>
              <a:gdLst/>
              <a:ahLst/>
              <a:cxnLst/>
              <a:rect l="l" t="t" r="r" b="b"/>
              <a:pathLst>
                <a:path w="4186" h="1396" extrusionOk="0">
                  <a:moveTo>
                    <a:pt x="3488" y="466"/>
                  </a:moveTo>
                  <a:cubicBezTo>
                    <a:pt x="3615" y="466"/>
                    <a:pt x="3720" y="571"/>
                    <a:pt x="3720" y="698"/>
                  </a:cubicBezTo>
                  <a:cubicBezTo>
                    <a:pt x="3720" y="829"/>
                    <a:pt x="3615" y="931"/>
                    <a:pt x="3488" y="931"/>
                  </a:cubicBezTo>
                  <a:lnTo>
                    <a:pt x="698" y="931"/>
                  </a:lnTo>
                  <a:cubicBezTo>
                    <a:pt x="568" y="931"/>
                    <a:pt x="465" y="829"/>
                    <a:pt x="465" y="698"/>
                  </a:cubicBezTo>
                  <a:cubicBezTo>
                    <a:pt x="465" y="571"/>
                    <a:pt x="568" y="466"/>
                    <a:pt x="698" y="466"/>
                  </a:cubicBezTo>
                  <a:close/>
                  <a:moveTo>
                    <a:pt x="698" y="1"/>
                  </a:moveTo>
                  <a:cubicBezTo>
                    <a:pt x="310" y="1"/>
                    <a:pt x="0" y="314"/>
                    <a:pt x="0" y="698"/>
                  </a:cubicBezTo>
                  <a:cubicBezTo>
                    <a:pt x="0" y="1083"/>
                    <a:pt x="310" y="1396"/>
                    <a:pt x="698" y="1396"/>
                  </a:cubicBezTo>
                  <a:lnTo>
                    <a:pt x="3488" y="1396"/>
                  </a:lnTo>
                  <a:cubicBezTo>
                    <a:pt x="3872" y="1396"/>
                    <a:pt x="4185" y="1083"/>
                    <a:pt x="4185" y="698"/>
                  </a:cubicBezTo>
                  <a:cubicBezTo>
                    <a:pt x="4185" y="314"/>
                    <a:pt x="3872" y="1"/>
                    <a:pt x="34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grpSp>
      <p:sp>
        <p:nvSpPr>
          <p:cNvPr id="347" name="Google Shape;347;p40">
            <a:extLst>
              <a:ext uri="{FF2B5EF4-FFF2-40B4-BE49-F238E27FC236}">
                <a16:creationId xmlns:a16="http://schemas.microsoft.com/office/drawing/2014/main" id="{7B3AE37D-5562-D1CA-31FF-46C031045B77}"/>
              </a:ext>
            </a:extLst>
          </p:cNvPr>
          <p:cNvSpPr txBox="1">
            <a:spLocks noGrp="1"/>
          </p:cNvSpPr>
          <p:nvPr>
            <p:ph type="subTitle" idx="2"/>
          </p:nvPr>
        </p:nvSpPr>
        <p:spPr>
          <a:xfrm>
            <a:off x="914399" y="1679113"/>
            <a:ext cx="3387661" cy="3275257"/>
          </a:xfrm>
          <a:prstGeom prst="rect">
            <a:avLst/>
          </a:prstGeom>
        </p:spPr>
        <p:txBody>
          <a:bodyPr spcFirstLastPara="1" wrap="square" lIns="91425" tIns="91425" rIns="91425" bIns="91425" anchor="ctr" anchorCtr="0">
            <a:noAutofit/>
          </a:bodyPr>
          <a:lstStyle/>
          <a:p>
            <a:pPr marL="127000" indent="0" fontAlgn="base">
              <a:spcAft>
                <a:spcPts val="1200"/>
              </a:spcAft>
              <a:buNone/>
            </a:pPr>
            <a:r>
              <a:rPr lang="en-US" dirty="0"/>
              <a:t>To the right, green is the 555 output and is used as the trigger. Yellow is the voltage at the high side of the sense resistor, and red (4) is the voltage at the low side of the sense resistor. Pink is the differential voltage between these using the math function (yellow – red).</a:t>
            </a:r>
          </a:p>
          <a:p>
            <a:pPr marL="127000" indent="0" fontAlgn="base">
              <a:spcAft>
                <a:spcPts val="1200"/>
              </a:spcAft>
              <a:buNone/>
            </a:pPr>
            <a:r>
              <a:rPr lang="en-US" dirty="0"/>
              <a:t>Pink is 20mV/div so a voltage across the resistor of 20mV. Therefore, the steady state current is 20mV/1Ohm = 20mA. </a:t>
            </a:r>
          </a:p>
        </p:txBody>
      </p:sp>
      <p:pic>
        <p:nvPicPr>
          <p:cNvPr id="16" name="Picture 15">
            <a:extLst>
              <a:ext uri="{FF2B5EF4-FFF2-40B4-BE49-F238E27FC236}">
                <a16:creationId xmlns:a16="http://schemas.microsoft.com/office/drawing/2014/main" id="{22D2E691-1995-D134-6BE5-7634CC953E88}"/>
              </a:ext>
            </a:extLst>
          </p:cNvPr>
          <p:cNvPicPr>
            <a:picLocks noChangeAspect="1"/>
          </p:cNvPicPr>
          <p:nvPr/>
        </p:nvPicPr>
        <p:blipFill>
          <a:blip r:embed="rId3"/>
          <a:stretch>
            <a:fillRect/>
          </a:stretch>
        </p:blipFill>
        <p:spPr>
          <a:xfrm>
            <a:off x="5051362" y="4326117"/>
            <a:ext cx="3082194" cy="743417"/>
          </a:xfrm>
          <a:prstGeom prst="rect">
            <a:avLst/>
          </a:prstGeom>
        </p:spPr>
      </p:pic>
      <p:pic>
        <p:nvPicPr>
          <p:cNvPr id="3" name="Picture 2">
            <a:extLst>
              <a:ext uri="{FF2B5EF4-FFF2-40B4-BE49-F238E27FC236}">
                <a16:creationId xmlns:a16="http://schemas.microsoft.com/office/drawing/2014/main" id="{964F8741-44AB-6A87-E971-A334D14FEFF0}"/>
              </a:ext>
            </a:extLst>
          </p:cNvPr>
          <p:cNvPicPr>
            <a:picLocks noChangeAspect="1"/>
          </p:cNvPicPr>
          <p:nvPr/>
        </p:nvPicPr>
        <p:blipFill>
          <a:blip r:embed="rId4"/>
          <a:stretch>
            <a:fillRect/>
          </a:stretch>
        </p:blipFill>
        <p:spPr>
          <a:xfrm>
            <a:off x="4487154" y="1572028"/>
            <a:ext cx="3886199" cy="2345226"/>
          </a:xfrm>
          <a:prstGeom prst="rect">
            <a:avLst/>
          </a:prstGeom>
        </p:spPr>
      </p:pic>
    </p:spTree>
    <p:extLst>
      <p:ext uri="{BB962C8B-B14F-4D97-AF65-F5344CB8AC3E}">
        <p14:creationId xmlns:p14="http://schemas.microsoft.com/office/powerpoint/2010/main" val="3814881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47">
                                            <p:txEl>
                                              <p:pRg st="0" end="0"/>
                                            </p:txEl>
                                          </p:spTgt>
                                        </p:tgtEl>
                                        <p:attrNameLst>
                                          <p:attrName>style.visibility</p:attrName>
                                        </p:attrNameLst>
                                      </p:cBhvr>
                                      <p:to>
                                        <p:strVal val="visible"/>
                                      </p:to>
                                    </p:set>
                                    <p:anim calcmode="lin" valueType="num">
                                      <p:cBhvr additive="base">
                                        <p:cTn id="7" dur="500" fill="hold"/>
                                        <p:tgtEl>
                                          <p:spTgt spid="3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47">
                                            <p:txEl>
                                              <p:pRg st="1" end="1"/>
                                            </p:txEl>
                                          </p:spTgt>
                                        </p:tgtEl>
                                        <p:attrNameLst>
                                          <p:attrName>style.visibility</p:attrName>
                                        </p:attrNameLst>
                                      </p:cBhvr>
                                      <p:to>
                                        <p:strVal val="visible"/>
                                      </p:to>
                                    </p:set>
                                    <p:anim calcmode="lin" valueType="num">
                                      <p:cBhvr additive="base">
                                        <p:cTn id="11" dur="500" fill="hold"/>
                                        <p:tgtEl>
                                          <p:spTgt spid="34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4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38">
          <a:extLst>
            <a:ext uri="{FF2B5EF4-FFF2-40B4-BE49-F238E27FC236}">
              <a16:creationId xmlns:a16="http://schemas.microsoft.com/office/drawing/2014/main" id="{47C09E86-C317-8630-9D7A-CD78AF317217}"/>
            </a:ext>
          </a:extLst>
        </p:cNvPr>
        <p:cNvGrpSpPr/>
        <p:nvPr/>
      </p:nvGrpSpPr>
      <p:grpSpPr>
        <a:xfrm>
          <a:off x="0" y="0"/>
          <a:ext cx="0" cy="0"/>
          <a:chOff x="0" y="0"/>
          <a:chExt cx="0" cy="0"/>
        </a:xfrm>
      </p:grpSpPr>
      <p:sp>
        <p:nvSpPr>
          <p:cNvPr id="339" name="Google Shape;339;p40">
            <a:extLst>
              <a:ext uri="{FF2B5EF4-FFF2-40B4-BE49-F238E27FC236}">
                <a16:creationId xmlns:a16="http://schemas.microsoft.com/office/drawing/2014/main" id="{5FE77A29-0C62-E6CC-885C-466B332651B5}"/>
              </a:ext>
            </a:extLst>
          </p:cNvPr>
          <p:cNvSpPr txBox="1">
            <a:spLocks noGrp="1"/>
          </p:cNvSpPr>
          <p:nvPr>
            <p:ph type="title"/>
          </p:nvPr>
        </p:nvSpPr>
        <p:spPr>
          <a:xfrm>
            <a:off x="1440597" y="817383"/>
            <a:ext cx="6103290" cy="501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600" b="1" dirty="0">
                <a:latin typeface="Roboto" panose="02000000000000000000" pitchFamily="2" charset="0"/>
                <a:ea typeface="Roboto" panose="02000000000000000000" pitchFamily="2" charset="0"/>
                <a:cs typeface="Roboto" panose="02000000000000000000" pitchFamily="2" charset="0"/>
              </a:rPr>
              <a:t>Inrush Current</a:t>
            </a:r>
            <a:endParaRPr lang="en-US" b="1" dirty="0">
              <a:latin typeface="Roboto" panose="02000000000000000000" pitchFamily="2" charset="0"/>
              <a:ea typeface="Roboto" panose="02000000000000000000" pitchFamily="2" charset="0"/>
              <a:cs typeface="Roboto" panose="02000000000000000000" pitchFamily="2" charset="0"/>
            </a:endParaRPr>
          </a:p>
        </p:txBody>
      </p:sp>
      <p:cxnSp>
        <p:nvCxnSpPr>
          <p:cNvPr id="340" name="Google Shape;340;p40">
            <a:extLst>
              <a:ext uri="{FF2B5EF4-FFF2-40B4-BE49-F238E27FC236}">
                <a16:creationId xmlns:a16="http://schemas.microsoft.com/office/drawing/2014/main" id="{888A4862-2E68-DB61-6274-14B433C97036}"/>
              </a:ext>
            </a:extLst>
          </p:cNvPr>
          <p:cNvCxnSpPr/>
          <p:nvPr/>
        </p:nvCxnSpPr>
        <p:spPr>
          <a:xfrm>
            <a:off x="1493372" y="1474799"/>
            <a:ext cx="3933000" cy="0"/>
          </a:xfrm>
          <a:prstGeom prst="straightConnector1">
            <a:avLst/>
          </a:prstGeom>
          <a:noFill/>
          <a:ln w="19050" cap="flat" cmpd="sng">
            <a:solidFill>
              <a:schemeClr val="accent4"/>
            </a:solidFill>
            <a:prstDash val="solid"/>
            <a:round/>
            <a:headEnd type="none" w="med" len="med"/>
            <a:tailEnd type="none" w="med" len="med"/>
          </a:ln>
        </p:spPr>
      </p:cxnSp>
      <p:grpSp>
        <p:nvGrpSpPr>
          <p:cNvPr id="342" name="Google Shape;342;p40">
            <a:extLst>
              <a:ext uri="{FF2B5EF4-FFF2-40B4-BE49-F238E27FC236}">
                <a16:creationId xmlns:a16="http://schemas.microsoft.com/office/drawing/2014/main" id="{CCD4DD6A-22A0-2B16-E0B5-594BD4674C4A}"/>
              </a:ext>
            </a:extLst>
          </p:cNvPr>
          <p:cNvGrpSpPr/>
          <p:nvPr/>
        </p:nvGrpSpPr>
        <p:grpSpPr>
          <a:xfrm>
            <a:off x="1099493" y="1824203"/>
            <a:ext cx="341104" cy="501604"/>
            <a:chOff x="6939800" y="2710075"/>
            <a:chExt cx="197650" cy="290650"/>
          </a:xfrm>
        </p:grpSpPr>
        <p:sp>
          <p:nvSpPr>
            <p:cNvPr id="343" name="Google Shape;343;p40">
              <a:extLst>
                <a:ext uri="{FF2B5EF4-FFF2-40B4-BE49-F238E27FC236}">
                  <a16:creationId xmlns:a16="http://schemas.microsoft.com/office/drawing/2014/main" id="{1A3CBEF6-44BB-913A-D34B-DF6E00420827}"/>
                </a:ext>
              </a:extLst>
            </p:cNvPr>
            <p:cNvSpPr/>
            <p:nvPr/>
          </p:nvSpPr>
          <p:spPr>
            <a:xfrm>
              <a:off x="6939800" y="2710075"/>
              <a:ext cx="197650" cy="290650"/>
            </a:xfrm>
            <a:custGeom>
              <a:avLst/>
              <a:gdLst/>
              <a:ahLst/>
              <a:cxnLst/>
              <a:rect l="l" t="t" r="r" b="b"/>
              <a:pathLst>
                <a:path w="7906" h="11626" extrusionOk="0">
                  <a:moveTo>
                    <a:pt x="4650" y="466"/>
                  </a:moveTo>
                  <a:cubicBezTo>
                    <a:pt x="4777" y="466"/>
                    <a:pt x="4883" y="571"/>
                    <a:pt x="4883" y="698"/>
                  </a:cubicBezTo>
                  <a:lnTo>
                    <a:pt x="4883" y="3488"/>
                  </a:lnTo>
                  <a:cubicBezTo>
                    <a:pt x="4883" y="3618"/>
                    <a:pt x="4777" y="3721"/>
                    <a:pt x="4650" y="3721"/>
                  </a:cubicBezTo>
                  <a:lnTo>
                    <a:pt x="3255" y="3721"/>
                  </a:lnTo>
                  <a:cubicBezTo>
                    <a:pt x="3125" y="3721"/>
                    <a:pt x="3023" y="3618"/>
                    <a:pt x="3023" y="3488"/>
                  </a:cubicBezTo>
                  <a:lnTo>
                    <a:pt x="3023" y="698"/>
                  </a:lnTo>
                  <a:cubicBezTo>
                    <a:pt x="3023" y="571"/>
                    <a:pt x="3125" y="466"/>
                    <a:pt x="3255" y="466"/>
                  </a:cubicBezTo>
                  <a:close/>
                  <a:moveTo>
                    <a:pt x="7208" y="2326"/>
                  </a:moveTo>
                  <a:cubicBezTo>
                    <a:pt x="7335" y="2326"/>
                    <a:pt x="7440" y="2431"/>
                    <a:pt x="7440" y="2558"/>
                  </a:cubicBezTo>
                  <a:lnTo>
                    <a:pt x="7440" y="10928"/>
                  </a:lnTo>
                  <a:cubicBezTo>
                    <a:pt x="7440" y="11059"/>
                    <a:pt x="7335" y="11161"/>
                    <a:pt x="7208" y="11161"/>
                  </a:cubicBezTo>
                  <a:lnTo>
                    <a:pt x="698" y="11161"/>
                  </a:lnTo>
                  <a:cubicBezTo>
                    <a:pt x="567" y="11161"/>
                    <a:pt x="465" y="11059"/>
                    <a:pt x="465" y="10928"/>
                  </a:cubicBezTo>
                  <a:lnTo>
                    <a:pt x="465" y="2558"/>
                  </a:lnTo>
                  <a:cubicBezTo>
                    <a:pt x="465" y="2431"/>
                    <a:pt x="567" y="2326"/>
                    <a:pt x="698" y="2326"/>
                  </a:cubicBezTo>
                  <a:lnTo>
                    <a:pt x="2558" y="2326"/>
                  </a:lnTo>
                  <a:lnTo>
                    <a:pt x="2558" y="3488"/>
                  </a:lnTo>
                  <a:cubicBezTo>
                    <a:pt x="2558" y="3873"/>
                    <a:pt x="2868" y="4186"/>
                    <a:pt x="3255" y="4186"/>
                  </a:cubicBezTo>
                  <a:lnTo>
                    <a:pt x="4650" y="4186"/>
                  </a:lnTo>
                  <a:cubicBezTo>
                    <a:pt x="5035" y="4186"/>
                    <a:pt x="5348" y="3873"/>
                    <a:pt x="5348" y="3488"/>
                  </a:cubicBezTo>
                  <a:lnTo>
                    <a:pt x="5348" y="2326"/>
                  </a:lnTo>
                  <a:close/>
                  <a:moveTo>
                    <a:pt x="3255" y="1"/>
                  </a:moveTo>
                  <a:cubicBezTo>
                    <a:pt x="2868" y="1"/>
                    <a:pt x="2558" y="314"/>
                    <a:pt x="2558" y="698"/>
                  </a:cubicBezTo>
                  <a:lnTo>
                    <a:pt x="2558" y="1861"/>
                  </a:lnTo>
                  <a:lnTo>
                    <a:pt x="698" y="1861"/>
                  </a:lnTo>
                  <a:cubicBezTo>
                    <a:pt x="310" y="1861"/>
                    <a:pt x="0" y="2174"/>
                    <a:pt x="0" y="2558"/>
                  </a:cubicBezTo>
                  <a:lnTo>
                    <a:pt x="0" y="10928"/>
                  </a:lnTo>
                  <a:cubicBezTo>
                    <a:pt x="0" y="11313"/>
                    <a:pt x="310" y="11626"/>
                    <a:pt x="698" y="11626"/>
                  </a:cubicBezTo>
                  <a:lnTo>
                    <a:pt x="7208" y="11626"/>
                  </a:lnTo>
                  <a:cubicBezTo>
                    <a:pt x="7592" y="11626"/>
                    <a:pt x="7905" y="11313"/>
                    <a:pt x="7905" y="10928"/>
                  </a:cubicBezTo>
                  <a:lnTo>
                    <a:pt x="7905" y="2558"/>
                  </a:lnTo>
                  <a:cubicBezTo>
                    <a:pt x="7905" y="2174"/>
                    <a:pt x="7592" y="1861"/>
                    <a:pt x="7208" y="1861"/>
                  </a:cubicBezTo>
                  <a:lnTo>
                    <a:pt x="5348" y="1861"/>
                  </a:lnTo>
                  <a:lnTo>
                    <a:pt x="5348" y="698"/>
                  </a:lnTo>
                  <a:cubicBezTo>
                    <a:pt x="5348" y="314"/>
                    <a:pt x="5035" y="1"/>
                    <a:pt x="46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344" name="Google Shape;344;p40">
              <a:extLst>
                <a:ext uri="{FF2B5EF4-FFF2-40B4-BE49-F238E27FC236}">
                  <a16:creationId xmlns:a16="http://schemas.microsoft.com/office/drawing/2014/main" id="{4D0BA5C9-5A7F-AAC8-2D27-4178A2F0FBFB}"/>
                </a:ext>
              </a:extLst>
            </p:cNvPr>
            <p:cNvSpPr/>
            <p:nvPr/>
          </p:nvSpPr>
          <p:spPr>
            <a:xfrm>
              <a:off x="7009550" y="2849550"/>
              <a:ext cx="60400" cy="58175"/>
            </a:xfrm>
            <a:custGeom>
              <a:avLst/>
              <a:gdLst/>
              <a:ahLst/>
              <a:cxnLst/>
              <a:rect l="l" t="t" r="r" b="b"/>
              <a:pathLst>
                <a:path w="2416" h="2327" extrusionOk="0">
                  <a:moveTo>
                    <a:pt x="1163" y="467"/>
                  </a:moveTo>
                  <a:cubicBezTo>
                    <a:pt x="1783" y="467"/>
                    <a:pt x="2093" y="1217"/>
                    <a:pt x="1656" y="1657"/>
                  </a:cubicBezTo>
                  <a:cubicBezTo>
                    <a:pt x="1513" y="1800"/>
                    <a:pt x="1338" y="1864"/>
                    <a:pt x="1166" y="1864"/>
                  </a:cubicBezTo>
                  <a:cubicBezTo>
                    <a:pt x="808" y="1864"/>
                    <a:pt x="465" y="1586"/>
                    <a:pt x="465" y="1164"/>
                  </a:cubicBezTo>
                  <a:cubicBezTo>
                    <a:pt x="465" y="780"/>
                    <a:pt x="775" y="467"/>
                    <a:pt x="1163" y="467"/>
                  </a:cubicBezTo>
                  <a:close/>
                  <a:moveTo>
                    <a:pt x="1171" y="0"/>
                  </a:moveTo>
                  <a:cubicBezTo>
                    <a:pt x="574" y="0"/>
                    <a:pt x="0" y="464"/>
                    <a:pt x="0" y="1164"/>
                  </a:cubicBezTo>
                  <a:cubicBezTo>
                    <a:pt x="0" y="1806"/>
                    <a:pt x="521" y="2327"/>
                    <a:pt x="1163" y="2327"/>
                  </a:cubicBezTo>
                  <a:cubicBezTo>
                    <a:pt x="1631" y="2327"/>
                    <a:pt x="2056" y="2045"/>
                    <a:pt x="2235" y="1611"/>
                  </a:cubicBezTo>
                  <a:cubicBezTo>
                    <a:pt x="2415" y="1177"/>
                    <a:pt x="2316" y="675"/>
                    <a:pt x="1984" y="343"/>
                  </a:cubicBezTo>
                  <a:cubicBezTo>
                    <a:pt x="1748" y="106"/>
                    <a:pt x="1457" y="0"/>
                    <a:pt x="11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345" name="Google Shape;345;p40">
              <a:extLst>
                <a:ext uri="{FF2B5EF4-FFF2-40B4-BE49-F238E27FC236}">
                  <a16:creationId xmlns:a16="http://schemas.microsoft.com/office/drawing/2014/main" id="{F8385341-6E4A-FEA4-EB5F-31E38A396926}"/>
                </a:ext>
              </a:extLst>
            </p:cNvPr>
            <p:cNvSpPr/>
            <p:nvPr/>
          </p:nvSpPr>
          <p:spPr>
            <a:xfrm>
              <a:off x="6986300" y="2919325"/>
              <a:ext cx="104650" cy="34900"/>
            </a:xfrm>
            <a:custGeom>
              <a:avLst/>
              <a:gdLst/>
              <a:ahLst/>
              <a:cxnLst/>
              <a:rect l="l" t="t" r="r" b="b"/>
              <a:pathLst>
                <a:path w="4186" h="1396" extrusionOk="0">
                  <a:moveTo>
                    <a:pt x="3488" y="466"/>
                  </a:moveTo>
                  <a:cubicBezTo>
                    <a:pt x="3615" y="466"/>
                    <a:pt x="3720" y="571"/>
                    <a:pt x="3720" y="698"/>
                  </a:cubicBezTo>
                  <a:cubicBezTo>
                    <a:pt x="3720" y="829"/>
                    <a:pt x="3615" y="931"/>
                    <a:pt x="3488" y="931"/>
                  </a:cubicBezTo>
                  <a:lnTo>
                    <a:pt x="698" y="931"/>
                  </a:lnTo>
                  <a:cubicBezTo>
                    <a:pt x="568" y="931"/>
                    <a:pt x="465" y="829"/>
                    <a:pt x="465" y="698"/>
                  </a:cubicBezTo>
                  <a:cubicBezTo>
                    <a:pt x="465" y="571"/>
                    <a:pt x="568" y="466"/>
                    <a:pt x="698" y="466"/>
                  </a:cubicBezTo>
                  <a:close/>
                  <a:moveTo>
                    <a:pt x="698" y="1"/>
                  </a:moveTo>
                  <a:cubicBezTo>
                    <a:pt x="310" y="1"/>
                    <a:pt x="0" y="314"/>
                    <a:pt x="0" y="698"/>
                  </a:cubicBezTo>
                  <a:cubicBezTo>
                    <a:pt x="0" y="1083"/>
                    <a:pt x="310" y="1396"/>
                    <a:pt x="698" y="1396"/>
                  </a:cubicBezTo>
                  <a:lnTo>
                    <a:pt x="3488" y="1396"/>
                  </a:lnTo>
                  <a:cubicBezTo>
                    <a:pt x="3872" y="1396"/>
                    <a:pt x="4185" y="1083"/>
                    <a:pt x="4185" y="698"/>
                  </a:cubicBezTo>
                  <a:cubicBezTo>
                    <a:pt x="4185" y="314"/>
                    <a:pt x="3872" y="1"/>
                    <a:pt x="34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grpSp>
      <p:sp>
        <p:nvSpPr>
          <p:cNvPr id="347" name="Google Shape;347;p40">
            <a:extLst>
              <a:ext uri="{FF2B5EF4-FFF2-40B4-BE49-F238E27FC236}">
                <a16:creationId xmlns:a16="http://schemas.microsoft.com/office/drawing/2014/main" id="{CC41CF7E-675F-CEF9-85D2-BAC994286DB9}"/>
              </a:ext>
            </a:extLst>
          </p:cNvPr>
          <p:cNvSpPr txBox="1">
            <a:spLocks noGrp="1"/>
          </p:cNvSpPr>
          <p:nvPr>
            <p:ph type="subTitle" idx="2"/>
          </p:nvPr>
        </p:nvSpPr>
        <p:spPr>
          <a:xfrm>
            <a:off x="914399" y="1679113"/>
            <a:ext cx="3387661" cy="3275257"/>
          </a:xfrm>
          <a:prstGeom prst="rect">
            <a:avLst/>
          </a:prstGeom>
        </p:spPr>
        <p:txBody>
          <a:bodyPr spcFirstLastPara="1" wrap="square" lIns="91425" tIns="91425" rIns="91425" bIns="91425" anchor="ctr" anchorCtr="0">
            <a:noAutofit/>
          </a:bodyPr>
          <a:lstStyle/>
          <a:p>
            <a:pPr marL="127000" indent="0" fontAlgn="base">
              <a:spcAft>
                <a:spcPts val="1200"/>
              </a:spcAft>
              <a:buNone/>
            </a:pPr>
            <a:r>
              <a:rPr lang="en-US" dirty="0"/>
              <a:t>Now, the high side of the resistor is shown in yellow and acts as the trigger. Red is the low side, and green is the 555 output. The pink is the transient voltage across the sense resistor, which is about 2.4V. The inrush current here must then be 2.4V/1Ohm = 2.4A. </a:t>
            </a:r>
          </a:p>
          <a:p>
            <a:pPr marL="127000" indent="0" fontAlgn="base">
              <a:spcAft>
                <a:spcPts val="1200"/>
              </a:spcAft>
              <a:buNone/>
            </a:pPr>
            <a:r>
              <a:rPr lang="en-US" dirty="0"/>
              <a:t>This is a super high current and may damage components if the supply does not cater to this event. </a:t>
            </a:r>
          </a:p>
        </p:txBody>
      </p:sp>
      <p:pic>
        <p:nvPicPr>
          <p:cNvPr id="16" name="Picture 15">
            <a:extLst>
              <a:ext uri="{FF2B5EF4-FFF2-40B4-BE49-F238E27FC236}">
                <a16:creationId xmlns:a16="http://schemas.microsoft.com/office/drawing/2014/main" id="{9D6A5293-4B6E-9BF2-BB34-1FE3D73C9C12}"/>
              </a:ext>
            </a:extLst>
          </p:cNvPr>
          <p:cNvPicPr>
            <a:picLocks noChangeAspect="1"/>
          </p:cNvPicPr>
          <p:nvPr/>
        </p:nvPicPr>
        <p:blipFill>
          <a:blip r:embed="rId3"/>
          <a:stretch>
            <a:fillRect/>
          </a:stretch>
        </p:blipFill>
        <p:spPr>
          <a:xfrm>
            <a:off x="5051362" y="4326117"/>
            <a:ext cx="3082194" cy="743417"/>
          </a:xfrm>
          <a:prstGeom prst="rect">
            <a:avLst/>
          </a:prstGeom>
        </p:spPr>
      </p:pic>
      <p:pic>
        <p:nvPicPr>
          <p:cNvPr id="2" name="Picture 1">
            <a:extLst>
              <a:ext uri="{FF2B5EF4-FFF2-40B4-BE49-F238E27FC236}">
                <a16:creationId xmlns:a16="http://schemas.microsoft.com/office/drawing/2014/main" id="{C81ED30C-FFA9-18C7-94EA-18041DB71509}"/>
              </a:ext>
            </a:extLst>
          </p:cNvPr>
          <p:cNvPicPr>
            <a:picLocks noChangeAspect="1"/>
          </p:cNvPicPr>
          <p:nvPr/>
        </p:nvPicPr>
        <p:blipFill>
          <a:blip r:embed="rId4"/>
          <a:stretch>
            <a:fillRect/>
          </a:stretch>
        </p:blipFill>
        <p:spPr>
          <a:xfrm>
            <a:off x="4382310" y="1576370"/>
            <a:ext cx="4156142" cy="2492359"/>
          </a:xfrm>
          <a:prstGeom prst="rect">
            <a:avLst/>
          </a:prstGeom>
        </p:spPr>
      </p:pic>
    </p:spTree>
    <p:extLst>
      <p:ext uri="{BB962C8B-B14F-4D97-AF65-F5344CB8AC3E}">
        <p14:creationId xmlns:p14="http://schemas.microsoft.com/office/powerpoint/2010/main" val="3459384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47">
                                            <p:txEl>
                                              <p:pRg st="0" end="0"/>
                                            </p:txEl>
                                          </p:spTgt>
                                        </p:tgtEl>
                                        <p:attrNameLst>
                                          <p:attrName>style.visibility</p:attrName>
                                        </p:attrNameLst>
                                      </p:cBhvr>
                                      <p:to>
                                        <p:strVal val="visible"/>
                                      </p:to>
                                    </p:set>
                                    <p:anim calcmode="lin" valueType="num">
                                      <p:cBhvr additive="base">
                                        <p:cTn id="7" dur="500" fill="hold"/>
                                        <p:tgtEl>
                                          <p:spTgt spid="3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47">
                                            <p:txEl>
                                              <p:pRg st="1" end="1"/>
                                            </p:txEl>
                                          </p:spTgt>
                                        </p:tgtEl>
                                        <p:attrNameLst>
                                          <p:attrName>style.visibility</p:attrName>
                                        </p:attrNameLst>
                                      </p:cBhvr>
                                      <p:to>
                                        <p:strVal val="visible"/>
                                      </p:to>
                                    </p:set>
                                    <p:anim calcmode="lin" valueType="num">
                                      <p:cBhvr additive="base">
                                        <p:cTn id="11" dur="500" fill="hold"/>
                                        <p:tgtEl>
                                          <p:spTgt spid="34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4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38">
          <a:extLst>
            <a:ext uri="{FF2B5EF4-FFF2-40B4-BE49-F238E27FC236}">
              <a16:creationId xmlns:a16="http://schemas.microsoft.com/office/drawing/2014/main" id="{FC7A82AA-0B03-84F6-49FC-CFBAB48F66FD}"/>
            </a:ext>
          </a:extLst>
        </p:cNvPr>
        <p:cNvGrpSpPr/>
        <p:nvPr/>
      </p:nvGrpSpPr>
      <p:grpSpPr>
        <a:xfrm>
          <a:off x="0" y="0"/>
          <a:ext cx="0" cy="0"/>
          <a:chOff x="0" y="0"/>
          <a:chExt cx="0" cy="0"/>
        </a:xfrm>
      </p:grpSpPr>
      <p:sp>
        <p:nvSpPr>
          <p:cNvPr id="339" name="Google Shape;339;p40">
            <a:extLst>
              <a:ext uri="{FF2B5EF4-FFF2-40B4-BE49-F238E27FC236}">
                <a16:creationId xmlns:a16="http://schemas.microsoft.com/office/drawing/2014/main" id="{1F4AADD8-0555-B7B4-D238-A51CAF39F448}"/>
              </a:ext>
            </a:extLst>
          </p:cNvPr>
          <p:cNvSpPr txBox="1">
            <a:spLocks noGrp="1"/>
          </p:cNvSpPr>
          <p:nvPr>
            <p:ph type="title"/>
          </p:nvPr>
        </p:nvSpPr>
        <p:spPr>
          <a:xfrm>
            <a:off x="1440597" y="817383"/>
            <a:ext cx="6103290" cy="501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b="1" dirty="0">
                <a:latin typeface="Roboto" panose="02000000000000000000" pitchFamily="2" charset="0"/>
                <a:ea typeface="Roboto" panose="02000000000000000000" pitchFamily="2" charset="0"/>
                <a:cs typeface="Roboto" panose="02000000000000000000" pitchFamily="2" charset="0"/>
              </a:rPr>
              <a:t>Conclusion</a:t>
            </a:r>
          </a:p>
        </p:txBody>
      </p:sp>
      <p:cxnSp>
        <p:nvCxnSpPr>
          <p:cNvPr id="340" name="Google Shape;340;p40">
            <a:extLst>
              <a:ext uri="{FF2B5EF4-FFF2-40B4-BE49-F238E27FC236}">
                <a16:creationId xmlns:a16="http://schemas.microsoft.com/office/drawing/2014/main" id="{09BE2300-C6ED-153E-A151-4D983362F33E}"/>
              </a:ext>
            </a:extLst>
          </p:cNvPr>
          <p:cNvCxnSpPr/>
          <p:nvPr/>
        </p:nvCxnSpPr>
        <p:spPr>
          <a:xfrm>
            <a:off x="1493372" y="1474799"/>
            <a:ext cx="3933000" cy="0"/>
          </a:xfrm>
          <a:prstGeom prst="straightConnector1">
            <a:avLst/>
          </a:prstGeom>
          <a:noFill/>
          <a:ln w="19050" cap="flat" cmpd="sng">
            <a:solidFill>
              <a:schemeClr val="accent4"/>
            </a:solidFill>
            <a:prstDash val="solid"/>
            <a:round/>
            <a:headEnd type="none" w="med" len="med"/>
            <a:tailEnd type="none" w="med" len="med"/>
          </a:ln>
        </p:spPr>
      </p:cxnSp>
      <p:grpSp>
        <p:nvGrpSpPr>
          <p:cNvPr id="342" name="Google Shape;342;p40">
            <a:extLst>
              <a:ext uri="{FF2B5EF4-FFF2-40B4-BE49-F238E27FC236}">
                <a16:creationId xmlns:a16="http://schemas.microsoft.com/office/drawing/2014/main" id="{91912AB6-2F42-0808-E41E-7D0E20314221}"/>
              </a:ext>
            </a:extLst>
          </p:cNvPr>
          <p:cNvGrpSpPr/>
          <p:nvPr/>
        </p:nvGrpSpPr>
        <p:grpSpPr>
          <a:xfrm>
            <a:off x="1099493" y="1824203"/>
            <a:ext cx="341104" cy="501604"/>
            <a:chOff x="6939800" y="2710075"/>
            <a:chExt cx="197650" cy="290650"/>
          </a:xfrm>
        </p:grpSpPr>
        <p:sp>
          <p:nvSpPr>
            <p:cNvPr id="343" name="Google Shape;343;p40">
              <a:extLst>
                <a:ext uri="{FF2B5EF4-FFF2-40B4-BE49-F238E27FC236}">
                  <a16:creationId xmlns:a16="http://schemas.microsoft.com/office/drawing/2014/main" id="{EA15C465-450A-C67A-9A66-B07993BBB919}"/>
                </a:ext>
              </a:extLst>
            </p:cNvPr>
            <p:cNvSpPr/>
            <p:nvPr/>
          </p:nvSpPr>
          <p:spPr>
            <a:xfrm>
              <a:off x="6939800" y="2710075"/>
              <a:ext cx="197650" cy="290650"/>
            </a:xfrm>
            <a:custGeom>
              <a:avLst/>
              <a:gdLst/>
              <a:ahLst/>
              <a:cxnLst/>
              <a:rect l="l" t="t" r="r" b="b"/>
              <a:pathLst>
                <a:path w="7906" h="11626" extrusionOk="0">
                  <a:moveTo>
                    <a:pt x="4650" y="466"/>
                  </a:moveTo>
                  <a:cubicBezTo>
                    <a:pt x="4777" y="466"/>
                    <a:pt x="4883" y="571"/>
                    <a:pt x="4883" y="698"/>
                  </a:cubicBezTo>
                  <a:lnTo>
                    <a:pt x="4883" y="3488"/>
                  </a:lnTo>
                  <a:cubicBezTo>
                    <a:pt x="4883" y="3618"/>
                    <a:pt x="4777" y="3721"/>
                    <a:pt x="4650" y="3721"/>
                  </a:cubicBezTo>
                  <a:lnTo>
                    <a:pt x="3255" y="3721"/>
                  </a:lnTo>
                  <a:cubicBezTo>
                    <a:pt x="3125" y="3721"/>
                    <a:pt x="3023" y="3618"/>
                    <a:pt x="3023" y="3488"/>
                  </a:cubicBezTo>
                  <a:lnTo>
                    <a:pt x="3023" y="698"/>
                  </a:lnTo>
                  <a:cubicBezTo>
                    <a:pt x="3023" y="571"/>
                    <a:pt x="3125" y="466"/>
                    <a:pt x="3255" y="466"/>
                  </a:cubicBezTo>
                  <a:close/>
                  <a:moveTo>
                    <a:pt x="7208" y="2326"/>
                  </a:moveTo>
                  <a:cubicBezTo>
                    <a:pt x="7335" y="2326"/>
                    <a:pt x="7440" y="2431"/>
                    <a:pt x="7440" y="2558"/>
                  </a:cubicBezTo>
                  <a:lnTo>
                    <a:pt x="7440" y="10928"/>
                  </a:lnTo>
                  <a:cubicBezTo>
                    <a:pt x="7440" y="11059"/>
                    <a:pt x="7335" y="11161"/>
                    <a:pt x="7208" y="11161"/>
                  </a:cubicBezTo>
                  <a:lnTo>
                    <a:pt x="698" y="11161"/>
                  </a:lnTo>
                  <a:cubicBezTo>
                    <a:pt x="567" y="11161"/>
                    <a:pt x="465" y="11059"/>
                    <a:pt x="465" y="10928"/>
                  </a:cubicBezTo>
                  <a:lnTo>
                    <a:pt x="465" y="2558"/>
                  </a:lnTo>
                  <a:cubicBezTo>
                    <a:pt x="465" y="2431"/>
                    <a:pt x="567" y="2326"/>
                    <a:pt x="698" y="2326"/>
                  </a:cubicBezTo>
                  <a:lnTo>
                    <a:pt x="2558" y="2326"/>
                  </a:lnTo>
                  <a:lnTo>
                    <a:pt x="2558" y="3488"/>
                  </a:lnTo>
                  <a:cubicBezTo>
                    <a:pt x="2558" y="3873"/>
                    <a:pt x="2868" y="4186"/>
                    <a:pt x="3255" y="4186"/>
                  </a:cubicBezTo>
                  <a:lnTo>
                    <a:pt x="4650" y="4186"/>
                  </a:lnTo>
                  <a:cubicBezTo>
                    <a:pt x="5035" y="4186"/>
                    <a:pt x="5348" y="3873"/>
                    <a:pt x="5348" y="3488"/>
                  </a:cubicBezTo>
                  <a:lnTo>
                    <a:pt x="5348" y="2326"/>
                  </a:lnTo>
                  <a:close/>
                  <a:moveTo>
                    <a:pt x="3255" y="1"/>
                  </a:moveTo>
                  <a:cubicBezTo>
                    <a:pt x="2868" y="1"/>
                    <a:pt x="2558" y="314"/>
                    <a:pt x="2558" y="698"/>
                  </a:cubicBezTo>
                  <a:lnTo>
                    <a:pt x="2558" y="1861"/>
                  </a:lnTo>
                  <a:lnTo>
                    <a:pt x="698" y="1861"/>
                  </a:lnTo>
                  <a:cubicBezTo>
                    <a:pt x="310" y="1861"/>
                    <a:pt x="0" y="2174"/>
                    <a:pt x="0" y="2558"/>
                  </a:cubicBezTo>
                  <a:lnTo>
                    <a:pt x="0" y="10928"/>
                  </a:lnTo>
                  <a:cubicBezTo>
                    <a:pt x="0" y="11313"/>
                    <a:pt x="310" y="11626"/>
                    <a:pt x="698" y="11626"/>
                  </a:cubicBezTo>
                  <a:lnTo>
                    <a:pt x="7208" y="11626"/>
                  </a:lnTo>
                  <a:cubicBezTo>
                    <a:pt x="7592" y="11626"/>
                    <a:pt x="7905" y="11313"/>
                    <a:pt x="7905" y="10928"/>
                  </a:cubicBezTo>
                  <a:lnTo>
                    <a:pt x="7905" y="2558"/>
                  </a:lnTo>
                  <a:cubicBezTo>
                    <a:pt x="7905" y="2174"/>
                    <a:pt x="7592" y="1861"/>
                    <a:pt x="7208" y="1861"/>
                  </a:cubicBezTo>
                  <a:lnTo>
                    <a:pt x="5348" y="1861"/>
                  </a:lnTo>
                  <a:lnTo>
                    <a:pt x="5348" y="698"/>
                  </a:lnTo>
                  <a:cubicBezTo>
                    <a:pt x="5348" y="314"/>
                    <a:pt x="5035" y="1"/>
                    <a:pt x="46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344" name="Google Shape;344;p40">
              <a:extLst>
                <a:ext uri="{FF2B5EF4-FFF2-40B4-BE49-F238E27FC236}">
                  <a16:creationId xmlns:a16="http://schemas.microsoft.com/office/drawing/2014/main" id="{15D1E22A-772A-AAD9-8DC6-CCA97FA9686A}"/>
                </a:ext>
              </a:extLst>
            </p:cNvPr>
            <p:cNvSpPr/>
            <p:nvPr/>
          </p:nvSpPr>
          <p:spPr>
            <a:xfrm>
              <a:off x="7009550" y="2849550"/>
              <a:ext cx="60400" cy="58175"/>
            </a:xfrm>
            <a:custGeom>
              <a:avLst/>
              <a:gdLst/>
              <a:ahLst/>
              <a:cxnLst/>
              <a:rect l="l" t="t" r="r" b="b"/>
              <a:pathLst>
                <a:path w="2416" h="2327" extrusionOk="0">
                  <a:moveTo>
                    <a:pt x="1163" y="467"/>
                  </a:moveTo>
                  <a:cubicBezTo>
                    <a:pt x="1783" y="467"/>
                    <a:pt x="2093" y="1217"/>
                    <a:pt x="1656" y="1657"/>
                  </a:cubicBezTo>
                  <a:cubicBezTo>
                    <a:pt x="1513" y="1800"/>
                    <a:pt x="1338" y="1864"/>
                    <a:pt x="1166" y="1864"/>
                  </a:cubicBezTo>
                  <a:cubicBezTo>
                    <a:pt x="808" y="1864"/>
                    <a:pt x="465" y="1586"/>
                    <a:pt x="465" y="1164"/>
                  </a:cubicBezTo>
                  <a:cubicBezTo>
                    <a:pt x="465" y="780"/>
                    <a:pt x="775" y="467"/>
                    <a:pt x="1163" y="467"/>
                  </a:cubicBezTo>
                  <a:close/>
                  <a:moveTo>
                    <a:pt x="1171" y="0"/>
                  </a:moveTo>
                  <a:cubicBezTo>
                    <a:pt x="574" y="0"/>
                    <a:pt x="0" y="464"/>
                    <a:pt x="0" y="1164"/>
                  </a:cubicBezTo>
                  <a:cubicBezTo>
                    <a:pt x="0" y="1806"/>
                    <a:pt x="521" y="2327"/>
                    <a:pt x="1163" y="2327"/>
                  </a:cubicBezTo>
                  <a:cubicBezTo>
                    <a:pt x="1631" y="2327"/>
                    <a:pt x="2056" y="2045"/>
                    <a:pt x="2235" y="1611"/>
                  </a:cubicBezTo>
                  <a:cubicBezTo>
                    <a:pt x="2415" y="1177"/>
                    <a:pt x="2316" y="675"/>
                    <a:pt x="1984" y="343"/>
                  </a:cubicBezTo>
                  <a:cubicBezTo>
                    <a:pt x="1748" y="106"/>
                    <a:pt x="1457" y="0"/>
                    <a:pt x="11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345" name="Google Shape;345;p40">
              <a:extLst>
                <a:ext uri="{FF2B5EF4-FFF2-40B4-BE49-F238E27FC236}">
                  <a16:creationId xmlns:a16="http://schemas.microsoft.com/office/drawing/2014/main" id="{CF2CC689-36A7-A767-18AA-0ADD7D83BDDD}"/>
                </a:ext>
              </a:extLst>
            </p:cNvPr>
            <p:cNvSpPr/>
            <p:nvPr/>
          </p:nvSpPr>
          <p:spPr>
            <a:xfrm>
              <a:off x="6986300" y="2919325"/>
              <a:ext cx="104650" cy="34900"/>
            </a:xfrm>
            <a:custGeom>
              <a:avLst/>
              <a:gdLst/>
              <a:ahLst/>
              <a:cxnLst/>
              <a:rect l="l" t="t" r="r" b="b"/>
              <a:pathLst>
                <a:path w="4186" h="1396" extrusionOk="0">
                  <a:moveTo>
                    <a:pt x="3488" y="466"/>
                  </a:moveTo>
                  <a:cubicBezTo>
                    <a:pt x="3615" y="466"/>
                    <a:pt x="3720" y="571"/>
                    <a:pt x="3720" y="698"/>
                  </a:cubicBezTo>
                  <a:cubicBezTo>
                    <a:pt x="3720" y="829"/>
                    <a:pt x="3615" y="931"/>
                    <a:pt x="3488" y="931"/>
                  </a:cubicBezTo>
                  <a:lnTo>
                    <a:pt x="698" y="931"/>
                  </a:lnTo>
                  <a:cubicBezTo>
                    <a:pt x="568" y="931"/>
                    <a:pt x="465" y="829"/>
                    <a:pt x="465" y="698"/>
                  </a:cubicBezTo>
                  <a:cubicBezTo>
                    <a:pt x="465" y="571"/>
                    <a:pt x="568" y="466"/>
                    <a:pt x="698" y="466"/>
                  </a:cubicBezTo>
                  <a:close/>
                  <a:moveTo>
                    <a:pt x="698" y="1"/>
                  </a:moveTo>
                  <a:cubicBezTo>
                    <a:pt x="310" y="1"/>
                    <a:pt x="0" y="314"/>
                    <a:pt x="0" y="698"/>
                  </a:cubicBezTo>
                  <a:cubicBezTo>
                    <a:pt x="0" y="1083"/>
                    <a:pt x="310" y="1396"/>
                    <a:pt x="698" y="1396"/>
                  </a:cubicBezTo>
                  <a:lnTo>
                    <a:pt x="3488" y="1396"/>
                  </a:lnTo>
                  <a:cubicBezTo>
                    <a:pt x="3872" y="1396"/>
                    <a:pt x="4185" y="1083"/>
                    <a:pt x="4185" y="698"/>
                  </a:cubicBezTo>
                  <a:cubicBezTo>
                    <a:pt x="4185" y="314"/>
                    <a:pt x="3872" y="1"/>
                    <a:pt x="34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grpSp>
      <p:sp>
        <p:nvSpPr>
          <p:cNvPr id="347" name="Google Shape;347;p40">
            <a:extLst>
              <a:ext uri="{FF2B5EF4-FFF2-40B4-BE49-F238E27FC236}">
                <a16:creationId xmlns:a16="http://schemas.microsoft.com/office/drawing/2014/main" id="{B8A91113-6E52-E756-30D9-9A6BE953672E}"/>
              </a:ext>
            </a:extLst>
          </p:cNvPr>
          <p:cNvSpPr txBox="1">
            <a:spLocks noGrp="1"/>
          </p:cNvSpPr>
          <p:nvPr>
            <p:ph type="subTitle" idx="2"/>
          </p:nvPr>
        </p:nvSpPr>
        <p:spPr>
          <a:xfrm>
            <a:off x="914399" y="1679114"/>
            <a:ext cx="6629488" cy="2802820"/>
          </a:xfrm>
          <a:prstGeom prst="rect">
            <a:avLst/>
          </a:prstGeom>
        </p:spPr>
        <p:txBody>
          <a:bodyPr spcFirstLastPara="1" wrap="square" lIns="91425" tIns="91425" rIns="91425" bIns="91425" anchor="ctr" anchorCtr="0">
            <a:noAutofit/>
          </a:bodyPr>
          <a:lstStyle/>
          <a:p>
            <a:pPr marL="127000" indent="0" fontAlgn="base">
              <a:spcAft>
                <a:spcPts val="1200"/>
              </a:spcAft>
              <a:buNone/>
            </a:pPr>
            <a:r>
              <a:rPr lang="en-US" dirty="0"/>
              <a:t>Using differential probing across the current sense resistor using single ended 10x probes, the steady state and inrush current can be measured. How large the inrush current demonstrates the importance of choosing a good power supply. </a:t>
            </a:r>
          </a:p>
        </p:txBody>
      </p:sp>
      <p:pic>
        <p:nvPicPr>
          <p:cNvPr id="16" name="Picture 15">
            <a:extLst>
              <a:ext uri="{FF2B5EF4-FFF2-40B4-BE49-F238E27FC236}">
                <a16:creationId xmlns:a16="http://schemas.microsoft.com/office/drawing/2014/main" id="{09CDB8EC-AD5B-73B7-4B10-E71FD320641D}"/>
              </a:ext>
            </a:extLst>
          </p:cNvPr>
          <p:cNvPicPr>
            <a:picLocks noChangeAspect="1"/>
          </p:cNvPicPr>
          <p:nvPr/>
        </p:nvPicPr>
        <p:blipFill>
          <a:blip r:embed="rId3"/>
          <a:stretch>
            <a:fillRect/>
          </a:stretch>
        </p:blipFill>
        <p:spPr>
          <a:xfrm>
            <a:off x="5051362" y="4326117"/>
            <a:ext cx="3082194" cy="743417"/>
          </a:xfrm>
          <a:prstGeom prst="rect">
            <a:avLst/>
          </a:prstGeom>
        </p:spPr>
      </p:pic>
    </p:spTree>
    <p:extLst>
      <p:ext uri="{BB962C8B-B14F-4D97-AF65-F5344CB8AC3E}">
        <p14:creationId xmlns:p14="http://schemas.microsoft.com/office/powerpoint/2010/main" val="4159370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47">
                                            <p:txEl>
                                              <p:pRg st="0" end="0"/>
                                            </p:txEl>
                                          </p:spTgt>
                                        </p:tgtEl>
                                        <p:attrNameLst>
                                          <p:attrName>style.visibility</p:attrName>
                                        </p:attrNameLst>
                                      </p:cBhvr>
                                      <p:to>
                                        <p:strVal val="visible"/>
                                      </p:to>
                                    </p:set>
                                    <p:anim calcmode="lin" valueType="num">
                                      <p:cBhvr additive="base">
                                        <p:cTn id="7" dur="500" fill="hold"/>
                                        <p:tgtEl>
                                          <p:spTgt spid="3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Economist CV by Slidesgo">
  <a:themeElements>
    <a:clrScheme name="Custom 20">
      <a:dk1>
        <a:srgbClr val="F7F8F7"/>
      </a:dk1>
      <a:lt1>
        <a:srgbClr val="FFFFFF"/>
      </a:lt1>
      <a:dk2>
        <a:srgbClr val="55595B"/>
      </a:dk2>
      <a:lt2>
        <a:srgbClr val="CEB87C"/>
      </a:lt2>
      <a:accent1>
        <a:srgbClr val="000000"/>
      </a:accent1>
      <a:accent2>
        <a:srgbClr val="A1A4A2"/>
      </a:accent2>
      <a:accent3>
        <a:srgbClr val="CEB87C"/>
      </a:accent3>
      <a:accent4>
        <a:srgbClr val="CEB87C"/>
      </a:accent4>
      <a:accent5>
        <a:srgbClr val="A1A4A2"/>
      </a:accent5>
      <a:accent6>
        <a:srgbClr val="55595B"/>
      </a:accent6>
      <a:hlink>
        <a:srgbClr val="000000"/>
      </a:hlink>
      <a:folHlink>
        <a:srgbClr val="FEFFF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emplate sample  -  Read-Only" id="{380A12DC-B198-1142-A7EC-BC688C9B773F}" vid="{368E9A12-024D-7D46-998A-38E0DBC666A7}"/>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DD97D9F-2F92-4D49-AA53-70B355EAA2D4}">
  <we:reference id="4b785c87-866c-4bad-85d8-5d1ae467ac9a" version="3.14.0.0" store="EXCatalog" storeType="EXCatalog"/>
  <we:alternateReferences>
    <we:reference id="WA104381909" version="3.14.0.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5B50ABD70B47B4B8F47BCFE050C16E7" ma:contentTypeVersion="4" ma:contentTypeDescription="Create a new document." ma:contentTypeScope="" ma:versionID="33d508c8ed3d3a5a72eafdd7713eced6">
  <xsd:schema xmlns:xsd="http://www.w3.org/2001/XMLSchema" xmlns:xs="http://www.w3.org/2001/XMLSchema" xmlns:p="http://schemas.microsoft.com/office/2006/metadata/properties" xmlns:ns2="d30e0f7a-dccb-4899-99ce-6327e3d1a72c" targetNamespace="http://schemas.microsoft.com/office/2006/metadata/properties" ma:root="true" ma:fieldsID="92a93b3dc386df0071176f96549093ab" ns2:_="">
    <xsd:import namespace="d30e0f7a-dccb-4899-99ce-6327e3d1a72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30e0f7a-dccb-4899-99ce-6327e3d1a72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BC6BA6D-036D-4410-A53E-3CF2168B7125}">
  <ds:schemaRefs>
    <ds:schemaRef ds:uri="http://purl.org/dc/terms/"/>
    <ds:schemaRef ds:uri="http://purl.org/dc/elements/1.1/"/>
    <ds:schemaRef ds:uri="http://schemas.microsoft.com/office/2006/documentManagement/types"/>
    <ds:schemaRef ds:uri="http://www.w3.org/XML/1998/namespace"/>
    <ds:schemaRef ds:uri="http://schemas.microsoft.com/office/infopath/2007/PartnerControls"/>
    <ds:schemaRef ds:uri="eba7cd66-8929-488a-b09c-af553d57b3be"/>
    <ds:schemaRef ds:uri="http://purl.org/dc/dcmitype/"/>
    <ds:schemaRef ds:uri="http://schemas.microsoft.com/office/2006/metadata/properties"/>
    <ds:schemaRef ds:uri="http://schemas.openxmlformats.org/package/2006/metadata/core-properties"/>
    <ds:schemaRef ds:uri="b6ac2268-b052-4bd0-b35d-2bdc9eafa59b"/>
  </ds:schemaRefs>
</ds:datastoreItem>
</file>

<file path=customXml/itemProps2.xml><?xml version="1.0" encoding="utf-8"?>
<ds:datastoreItem xmlns:ds="http://schemas.openxmlformats.org/officeDocument/2006/customXml" ds:itemID="{8BB19C4E-56B0-4663-9C6E-645D5CEDFFD4}">
  <ds:schemaRefs>
    <ds:schemaRef ds:uri="http://schemas.microsoft.com/sharepoint/v3/contenttype/forms"/>
  </ds:schemaRefs>
</ds:datastoreItem>
</file>

<file path=customXml/itemProps3.xml><?xml version="1.0" encoding="utf-8"?>
<ds:datastoreItem xmlns:ds="http://schemas.openxmlformats.org/officeDocument/2006/customXml" ds:itemID="{CF37170C-650D-48EA-8646-03DE173A178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30e0f7a-dccb-4899-99ce-6327e3d1a7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Economist CV by Slidesgo</Template>
  <TotalTime>1075</TotalTime>
  <Words>848</Words>
  <Application>Microsoft Macintosh PowerPoint</Application>
  <PresentationFormat>On-screen Show (16:9)</PresentationFormat>
  <Paragraphs>39</Paragraphs>
  <Slides>6</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vt:i4>
      </vt:variant>
    </vt:vector>
  </HeadingPairs>
  <TitlesOfParts>
    <vt:vector size="15" baseType="lpstr">
      <vt:lpstr>Roboto</vt:lpstr>
      <vt:lpstr>Oswald</vt:lpstr>
      <vt:lpstr>Nunito</vt:lpstr>
      <vt:lpstr>Oswald Regular</vt:lpstr>
      <vt:lpstr>Arial</vt:lpstr>
      <vt:lpstr>Symbol</vt:lpstr>
      <vt:lpstr>Calibri</vt:lpstr>
      <vt:lpstr>Roboto Medium</vt:lpstr>
      <vt:lpstr>Economist CV by Slidesgo</vt:lpstr>
      <vt:lpstr>Alexander Martinez</vt:lpstr>
      <vt:lpstr>The Circuit</vt:lpstr>
      <vt:lpstr>What is Inrush Current?</vt:lpstr>
      <vt:lpstr>Steady State Current</vt:lpstr>
      <vt:lpstr>Inrush Current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Alexander Martinez</dc:creator>
  <cp:lastModifiedBy>Alexander Martinez</cp:lastModifiedBy>
  <cp:revision>6</cp:revision>
  <dcterms:created xsi:type="dcterms:W3CDTF">2026-04-08T15:51:54Z</dcterms:created>
  <dcterms:modified xsi:type="dcterms:W3CDTF">2026-04-21T04:55:07Z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0x01010085B50ABD70B47B4B8F47BCFE050C16E7</vt:lpwstr>
  </property>
</Properties>
</file>